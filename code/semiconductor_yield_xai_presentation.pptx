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3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4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5.xml" ContentType="application/vnd.openxmlformats-officedocument.drawingml.chart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rts/chart6.xml" ContentType="application/vnd.openxmlformats-officedocument.drawingml.chart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rts/chart7.xml" ContentType="application/vnd.openxmlformats-officedocument.drawingml.chart+xml"/>
  <Override PartName="/ppt/notesSlides/notesSlide32.xml" ContentType="application/vnd.openxmlformats-officedocument.presentationml.notesSlide+xml"/>
  <Override PartName="/ppt/charts/chart8.xml" ContentType="application/vnd.openxmlformats-officedocument.drawingml.chart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9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53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ko-KR" altLang="en-US" sz="1800" b="0" i="0" u="none" strike="noStrike">
                <a:solidFill>
                  <a:srgbClr val="000000"/>
                </a:solidFill>
                <a:latin typeface="Arial"/>
              </a:rPr>
              <a:t>노드별 </a:t>
            </a: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Wafer </a:t>
            </a:r>
            <a:r>
              <a:rPr lang="ko-KR" altLang="en-US" sz="1800" b="0" i="0" u="none" strike="noStrike">
                <a:solidFill>
                  <a:srgbClr val="000000"/>
                </a:solidFill>
                <a:latin typeface="Arial"/>
              </a:rPr>
              <a:t>수 </a:t>
            </a:r>
            <a:r>
              <a:rPr lang="en-US" altLang="ko-KR" sz="1800" b="0" i="0" u="none" strike="noStrike">
                <a:solidFill>
                  <a:srgbClr val="000000"/>
                </a:solidFill>
                <a:latin typeface="Arial"/>
              </a:rPr>
              <a:t>(</a:t>
            </a: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n=1,250)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Wafer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E36-4727-9DDA-A4914BF0CBF0}"/>
              </c:ext>
            </c:extLst>
          </c:dPt>
          <c:dPt>
            <c:idx val="1"/>
            <c:bubble3D val="0"/>
            <c:spPr>
              <a:solidFill>
                <a:srgbClr val="E67E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E36-4727-9DDA-A4914BF0CBF0}"/>
              </c:ext>
            </c:extLst>
          </c:dPt>
          <c:dPt>
            <c:idx val="2"/>
            <c:bubble3D val="0"/>
            <c:spPr>
              <a:solidFill>
                <a:srgbClr val="F39C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E36-4727-9DDA-A4914BF0CBF0}"/>
              </c:ext>
            </c:extLst>
          </c:dPt>
          <c:dPt>
            <c:idx val="3"/>
            <c:bubble3D val="0"/>
            <c:spPr>
              <a:solidFill>
                <a:srgbClr val="1A7A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E36-4727-9DDA-A4914BF0CBF0}"/>
              </c:ext>
            </c:extLst>
          </c:dPt>
          <c:dPt>
            <c:idx val="4"/>
            <c:bubble3D val="0"/>
            <c:spPr>
              <a:solidFill>
                <a:srgbClr val="2980B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E36-4727-9DDA-A4914BF0CBF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ko-K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E36-4727-9DDA-A4914BF0CBF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ko-K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E36-4727-9DDA-A4914BF0CBF0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ko-K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E36-4727-9DDA-A4914BF0CBF0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ko-K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E36-4727-9DDA-A4914BF0CBF0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ko-K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E36-4727-9DDA-A4914BF0CBF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7nm</c:v>
                </c:pt>
                <c:pt idx="1">
                  <c:v>10nm</c:v>
                </c:pt>
                <c:pt idx="2">
                  <c:v>14nm</c:v>
                </c:pt>
                <c:pt idx="3">
                  <c:v>22nm</c:v>
                </c:pt>
                <c:pt idx="4">
                  <c:v>28nm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200</c:v>
                </c:pt>
                <c:pt idx="1">
                  <c:v>375</c:v>
                </c:pt>
                <c:pt idx="2">
                  <c:v>250</c:v>
                </c:pt>
                <c:pt idx="3">
                  <c:v>125</c:v>
                </c:pt>
                <c:pt idx="4">
                  <c:v>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E36-4727-9DDA-A4914BF0CB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ko-KR"/>
        </a:p>
      </c:txPr>
    </c:legend>
    <c:plotVisOnly val="1"/>
    <c:dispBlanksAs val="span"/>
    <c:showDLblsOverMax val="1"/>
  </c:chart>
  <c:spPr>
    <a:solidFill>
      <a:srgbClr val="F3F7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ko-KR" altLang="en-US" sz="1800" b="0" i="0" u="none" strike="noStrike">
                <a:solidFill>
                  <a:srgbClr val="000000"/>
                </a:solidFill>
                <a:latin typeface="Arial"/>
              </a:rPr>
              <a:t>노드별 평균 수율 </a:t>
            </a:r>
            <a:r>
              <a:rPr lang="en-US" altLang="ko-KR" sz="1800" b="0" i="0" u="none" strike="noStrike">
                <a:solidFill>
                  <a:srgbClr val="000000"/>
                </a:solidFill>
                <a:latin typeface="Arial"/>
              </a:rPr>
              <a:t>— </a:t>
            </a:r>
            <a:r>
              <a:rPr lang="ko-KR" altLang="en-US" sz="1800" b="0" i="0" u="none" strike="noStrike">
                <a:solidFill>
                  <a:srgbClr val="000000"/>
                </a:solidFill>
                <a:latin typeface="Arial"/>
              </a:rPr>
              <a:t>이분화 확인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고수율군(7/10nm)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7nm</c:v>
                </c:pt>
                <c:pt idx="1">
                  <c:v>10nm</c:v>
                </c:pt>
                <c:pt idx="2">
                  <c:v>14nm</c:v>
                </c:pt>
                <c:pt idx="3">
                  <c:v>22nm</c:v>
                </c:pt>
                <c:pt idx="4">
                  <c:v>28nm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0.58299999999999996</c:v>
                </c:pt>
                <c:pt idx="1">
                  <c:v>0.59399999999999997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C1-4F56-A230-39AD2E3382F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저수율군(14~28nm)</c:v>
                </c:pt>
              </c:strCache>
            </c:strRef>
          </c:tx>
          <c:spPr>
            <a:solidFill>
              <a:srgbClr val="2980B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7nm</c:v>
                </c:pt>
                <c:pt idx="1">
                  <c:v>10nm</c:v>
                </c:pt>
                <c:pt idx="2">
                  <c:v>14nm</c:v>
                </c:pt>
                <c:pt idx="3">
                  <c:v>22nm</c:v>
                </c:pt>
                <c:pt idx="4">
                  <c:v>28nm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0.34200000000000003</c:v>
                </c:pt>
                <c:pt idx="3">
                  <c:v>0.34</c:v>
                </c:pt>
                <c:pt idx="4">
                  <c:v>0.34499999999999997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6C1-4F56-A230-39AD2E3382F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75"/>
        </c:scaling>
        <c:delete val="0"/>
        <c:axPos val="l"/>
        <c:majorGridlines>
          <c:spPr>
            <a:ln w="6350" cap="flat">
              <a:solidFill>
                <a:srgbClr val="DD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ko-K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3F7F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ko-KR" altLang="en-US" sz="1800" b="0" i="0" u="none" strike="noStrike">
                <a:solidFill>
                  <a:srgbClr val="000000"/>
                </a:solidFill>
                <a:latin typeface="Arial"/>
              </a:rPr>
              <a:t>모델별 </a:t>
            </a:r>
            <a:r>
              <a:rPr lang="en-US" altLang="ko-KR" sz="1800" b="0" i="0" u="none" strike="noStrike">
                <a:solidFill>
                  <a:srgbClr val="000000"/>
                </a:solidFill>
                <a:latin typeface="Arial"/>
              </a:rPr>
              <a:t>5-</a:t>
            </a: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Fold CV R²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5-CV R²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762-4064-8983-DF60AFF4CDD6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D762-4064-8983-DF60AFF4CDD6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D762-4064-8983-DF60AFF4CDD6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D762-4064-8983-DF60AFF4CDD6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D762-4064-8983-DF60AFF4CDD6}"/>
              </c:ext>
            </c:extLst>
          </c:dPt>
          <c:dPt>
            <c:idx val="5"/>
            <c:invertIfNegative val="0"/>
            <c:bubble3D val="0"/>
            <c:spPr>
              <a:solidFill>
                <a:srgbClr val="E67E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D762-4064-8983-DF60AFF4CDD6}"/>
              </c:ext>
            </c:extLst>
          </c:dPt>
          <c:dPt>
            <c:idx val="6"/>
            <c:invertIfNegative val="0"/>
            <c:bubble3D val="0"/>
            <c:spPr>
              <a:solidFill>
                <a:srgbClr val="E67E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D762-4064-8983-DF60AFF4CDD6}"/>
              </c:ext>
            </c:extLst>
          </c:dPt>
          <c:dPt>
            <c:idx val="7"/>
            <c:invertIfNegative val="0"/>
            <c:bubble3D val="0"/>
            <c:spPr>
              <a:solidFill>
                <a:srgbClr val="E67E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D762-4064-8983-DF60AFF4CDD6}"/>
              </c:ext>
            </c:extLst>
          </c:dPt>
          <c:dPt>
            <c:idx val="8"/>
            <c:invertIfNegative val="0"/>
            <c:bubble3D val="0"/>
            <c:spPr>
              <a:solidFill>
                <a:srgbClr val="2980B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D762-4064-8983-DF60AFF4CDD6}"/>
              </c:ext>
            </c:extLst>
          </c:dPt>
          <c:dPt>
            <c:idx val="9"/>
            <c:invertIfNegative val="0"/>
            <c:bubble3D val="0"/>
            <c:spPr>
              <a:solidFill>
                <a:srgbClr val="2980B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D762-4064-8983-DF60AFF4CDD6}"/>
              </c:ext>
            </c:extLst>
          </c:dPt>
          <c:dPt>
            <c:idx val="10"/>
            <c:invertIfNegative val="0"/>
            <c:bubble3D val="0"/>
            <c:spPr>
              <a:solidFill>
                <a:srgbClr val="2980B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D762-4064-8983-DF60AFF4CDD6}"/>
              </c:ext>
            </c:extLst>
          </c:dPt>
          <c:dPt>
            <c:idx val="11"/>
            <c:invertIfNegative val="0"/>
            <c:bubble3D val="0"/>
            <c:spPr>
              <a:solidFill>
                <a:srgbClr val="3498D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D762-4064-8983-DF60AFF4CDD6}"/>
              </c:ext>
            </c:extLst>
          </c:dPt>
          <c:dPt>
            <c:idx val="12"/>
            <c:invertIfNegative val="0"/>
            <c:bubble3D val="0"/>
            <c:spPr>
              <a:solidFill>
                <a:srgbClr val="6C348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9-D762-4064-8983-DF60AFF4CDD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Sheet1!$A$2:$A$14</c:f>
              <c:strCache>
                <c:ptCount val="13"/>
                <c:pt idx="0">
                  <c:v>Gradient Boosting</c:v>
                </c:pt>
                <c:pt idx="1">
                  <c:v>AdaBoost</c:v>
                </c:pt>
                <c:pt idx="2">
                  <c:v>HistGBM(≈LGBM)</c:v>
                </c:pt>
                <c:pt idx="3">
                  <c:v>HistGBM(≈XGB)</c:v>
                </c:pt>
                <c:pt idx="4">
                  <c:v>HistGBM(≈CB)</c:v>
                </c:pt>
                <c:pt idx="5">
                  <c:v>Random Forest</c:v>
                </c:pt>
                <c:pt idx="6">
                  <c:v>Extra Trees</c:v>
                </c:pt>
                <c:pt idx="7">
                  <c:v>Bagging(DT)</c:v>
                </c:pt>
                <c:pt idx="8">
                  <c:v>KernelRidge</c:v>
                </c:pt>
                <c:pt idx="9">
                  <c:v>SVR(RBF)</c:v>
                </c:pt>
                <c:pt idx="10">
                  <c:v>NuSVR</c:v>
                </c:pt>
                <c:pt idx="11">
                  <c:v>MLP</c:v>
                </c:pt>
                <c:pt idx="12">
                  <c:v>Linear Reg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0.65959999999999996</c:v>
                </c:pt>
                <c:pt idx="1">
                  <c:v>0.66539999999999999</c:v>
                </c:pt>
                <c:pt idx="2">
                  <c:v>0.63500000000000001</c:v>
                </c:pt>
                <c:pt idx="3">
                  <c:v>0.62690000000000001</c:v>
                </c:pt>
                <c:pt idx="4">
                  <c:v>0.628</c:v>
                </c:pt>
                <c:pt idx="5">
                  <c:v>0.66110000000000002</c:v>
                </c:pt>
                <c:pt idx="6">
                  <c:v>0.62429999999999997</c:v>
                </c:pt>
                <c:pt idx="7">
                  <c:v>0.66830000000000001</c:v>
                </c:pt>
                <c:pt idx="8">
                  <c:v>0.42099999999999999</c:v>
                </c:pt>
                <c:pt idx="9">
                  <c:v>0.50470000000000004</c:v>
                </c:pt>
                <c:pt idx="10">
                  <c:v>0.48949999999999999</c:v>
                </c:pt>
                <c:pt idx="11">
                  <c:v>0.51239999999999997</c:v>
                </c:pt>
                <c:pt idx="12">
                  <c:v>0.5837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A-D762-4064-8983-DF60AFF4CDD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72"/>
        </c:scaling>
        <c:delete val="0"/>
        <c:axPos val="b"/>
        <c:majorGridlines>
          <c:spPr>
            <a:ln w="6350" cap="flat">
              <a:solidFill>
                <a:srgbClr val="DD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ko-K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3F7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ko-KR" altLang="en-US" sz="1800" b="0" i="0" u="none" strike="noStrike">
                <a:solidFill>
                  <a:srgbClr val="000000"/>
                </a:solidFill>
                <a:latin typeface="Arial"/>
              </a:rPr>
              <a:t>앙상블 전략별 </a:t>
            </a:r>
            <a:r>
              <a:rPr lang="en-US" altLang="ko-KR" sz="1800" b="0" i="0" u="none" strike="noStrike">
                <a:solidFill>
                  <a:srgbClr val="000000"/>
                </a:solidFill>
                <a:latin typeface="Arial"/>
              </a:rPr>
              <a:t>R² </a:t>
            </a:r>
            <a:r>
              <a:rPr lang="ko-KR" altLang="en-US" sz="1800" b="0" i="0" u="none" strike="noStrike">
                <a:solidFill>
                  <a:srgbClr val="000000"/>
                </a:solidFill>
                <a:latin typeface="Arial"/>
              </a:rPr>
              <a:t>비교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5-CV R²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76B-4462-8454-F643A0340D79}"/>
              </c:ext>
            </c:extLst>
          </c:dPt>
          <c:dPt>
            <c:idx val="1"/>
            <c:invertIfNegative val="0"/>
            <c:bubble3D val="0"/>
            <c:spPr>
              <a:solidFill>
                <a:srgbClr val="6C348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76B-4462-8454-F643A0340D79}"/>
              </c:ext>
            </c:extLst>
          </c:dPt>
          <c:dPt>
            <c:idx val="2"/>
            <c:invertIfNegative val="0"/>
            <c:bubble3D val="0"/>
            <c:spPr>
              <a:solidFill>
                <a:srgbClr val="8E44A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76B-4462-8454-F643A0340D7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GBM 단독★</c:v>
                </c:pt>
                <c:pt idx="1">
                  <c:v>동종 Stacking
(GBM+HistGBM+RF)</c:v>
                </c:pt>
                <c:pt idx="2">
                  <c:v>이기종 Stacking
(GBM+SVR+RF)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0.67549999999999999</c:v>
                </c:pt>
                <c:pt idx="1">
                  <c:v>0.67549999999999999</c:v>
                </c:pt>
                <c:pt idx="2">
                  <c:v>0.67410000000000003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76B-4462-8454-F643A0340D7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7"/>
          <c:min val="0.66800000000000004"/>
        </c:scaling>
        <c:delete val="0"/>
        <c:axPos val="l"/>
        <c:majorGridlines>
          <c:spPr>
            <a:ln w="12700" cap="flat">
              <a:solidFill>
                <a:srgbClr val="DD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ko-K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3F7F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altLang="ko-KR" sz="1800" b="0" i="0" u="none" strike="noStrike">
                <a:solidFill>
                  <a:srgbClr val="000000"/>
                </a:solidFill>
                <a:latin typeface="Arial"/>
              </a:rPr>
              <a:t>Phase</a:t>
            </a:r>
            <a:r>
              <a:rPr lang="ko-KR" altLang="en-US" sz="1800" b="0" i="0" u="none" strike="noStrike">
                <a:solidFill>
                  <a:srgbClr val="000000"/>
                </a:solidFill>
                <a:latin typeface="Arial"/>
              </a:rPr>
              <a:t>별 모델 성능 추이 </a:t>
            </a:r>
            <a:r>
              <a:rPr lang="en-US" altLang="ko-KR" sz="1800" b="0" i="0" u="none" strike="noStrike">
                <a:solidFill>
                  <a:srgbClr val="000000"/>
                </a:solidFill>
                <a:latin typeface="Arial"/>
              </a:rPr>
              <a:t>— </a:t>
            </a:r>
            <a:r>
              <a:rPr lang="ko-KR" altLang="en-US" sz="1800" b="0" i="0" u="none" strike="noStrike">
                <a:solidFill>
                  <a:srgbClr val="000000"/>
                </a:solidFill>
                <a:latin typeface="Arial"/>
              </a:rPr>
              <a:t>최종 선정 근거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5-CV R²</c:v>
                </c:pt>
              </c:strCache>
            </c:strRef>
          </c:tx>
          <c:spPr>
            <a:solidFill>
              <a:srgbClr val="95A5A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33D-488D-84CD-ED3002CE4641}"/>
              </c:ext>
            </c:extLst>
          </c:dPt>
          <c:dPt>
            <c:idx val="1"/>
            <c:invertIfNegative val="0"/>
            <c:bubble3D val="0"/>
            <c:spPr>
              <a:solidFill>
                <a:srgbClr val="E67E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33D-488D-84CD-ED3002CE4641}"/>
              </c:ext>
            </c:extLst>
          </c:dPt>
          <c:dPt>
            <c:idx val="2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33D-488D-84CD-ED3002CE4641}"/>
              </c:ext>
            </c:extLst>
          </c:dPt>
          <c:dPt>
            <c:idx val="3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33D-488D-84CD-ED3002CE4641}"/>
              </c:ext>
            </c:extLst>
          </c:dPt>
          <c:dPt>
            <c:idx val="4"/>
            <c:invertIfNegative val="0"/>
            <c:bubble3D val="0"/>
            <c:spPr>
              <a:solidFill>
                <a:srgbClr val="2980B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33D-488D-84CD-ED3002CE4641}"/>
              </c:ext>
            </c:extLst>
          </c:dPt>
          <c:dPt>
            <c:idx val="5"/>
            <c:invertIfNegative val="0"/>
            <c:bubble3D val="0"/>
            <c:spPr>
              <a:solidFill>
                <a:srgbClr val="8E44A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233D-488D-84CD-ED3002CE4641}"/>
              </c:ext>
            </c:extLst>
          </c:dPt>
          <c:dPt>
            <c:idx val="6"/>
            <c:invertIfNegative val="0"/>
            <c:bubble3D val="0"/>
            <c:spPr>
              <a:solidFill>
                <a:srgbClr val="9B59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233D-488D-84CD-ED3002CE4641}"/>
              </c:ext>
            </c:extLst>
          </c:dPt>
          <c:dPt>
            <c:idx val="7"/>
            <c:invertIfNegative val="0"/>
            <c:bubble3D val="0"/>
            <c:spPr>
              <a:solidFill>
                <a:srgbClr val="6C348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233D-488D-84CD-ED3002CE464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Linear
Baseline</c:v>
                </c:pt>
                <c:pt idx="1">
                  <c:v>Phase1
Bagging★</c:v>
                </c:pt>
                <c:pt idx="2">
                  <c:v>GBM
Tuned★</c:v>
                </c:pt>
                <c:pt idx="3">
                  <c:v>HistGBM
(≈XGB)</c:v>
                </c:pt>
                <c:pt idx="4">
                  <c:v>RF
Tuned</c:v>
                </c:pt>
                <c:pt idx="5">
                  <c:v>AdaBoost
Tuned</c:v>
                </c:pt>
                <c:pt idx="6">
                  <c:v>Voting
(Top3)</c:v>
                </c:pt>
                <c:pt idx="7">
                  <c:v>Stacking
(Top3→Ridge)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0.5837</c:v>
                </c:pt>
                <c:pt idx="1">
                  <c:v>0.66830000000000001</c:v>
                </c:pt>
                <c:pt idx="2">
                  <c:v>0.67549999999999999</c:v>
                </c:pt>
                <c:pt idx="3">
                  <c:v>0.67059999999999997</c:v>
                </c:pt>
                <c:pt idx="4">
                  <c:v>0.66500000000000004</c:v>
                </c:pt>
                <c:pt idx="5">
                  <c:v>0.66600000000000004</c:v>
                </c:pt>
                <c:pt idx="6">
                  <c:v>0.67500000000000004</c:v>
                </c:pt>
                <c:pt idx="7">
                  <c:v>0.67549999999999999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233D-488D-84CD-ED3002CE464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71"/>
          <c:min val="0.56999999999999995"/>
        </c:scaling>
        <c:delete val="0"/>
        <c:axPos val="l"/>
        <c:majorGridlines>
          <c:spPr>
            <a:ln w="12700" cap="flat">
              <a:solidFill>
                <a:srgbClr val="DD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ko-K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3F7FC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Top 10 </a:t>
            </a:r>
            <a:r>
              <a:rPr lang="ko-KR" altLang="en-US" sz="1800" b="0" i="0" u="none" strike="noStrike">
                <a:solidFill>
                  <a:srgbClr val="000000"/>
                </a:solidFill>
                <a:latin typeface="Arial"/>
              </a:rPr>
              <a:t>유의인자 </a:t>
            </a:r>
            <a:r>
              <a:rPr lang="en-US" altLang="ko-KR" sz="1800" b="0" i="0" u="none" strike="noStrike">
                <a:solidFill>
                  <a:srgbClr val="000000"/>
                </a:solidFill>
                <a:latin typeface="Arial"/>
              </a:rPr>
              <a:t>(</a:t>
            </a: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Ensemble Score)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Ensemble Score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0CA-4C65-B416-5FAC849E7EA3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E0CA-4C65-B416-5FAC849E7EA3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E0CA-4C65-B416-5FAC849E7EA3}"/>
              </c:ext>
            </c:extLst>
          </c:dPt>
          <c:dPt>
            <c:idx val="3"/>
            <c:invertIfNegative val="0"/>
            <c:bubble3D val="0"/>
            <c:spPr>
              <a:solidFill>
                <a:srgbClr val="E67E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0CA-4C65-B416-5FAC849E7EA3}"/>
              </c:ext>
            </c:extLst>
          </c:dPt>
          <c:dPt>
            <c:idx val="4"/>
            <c:invertIfNegative val="0"/>
            <c:bubble3D val="0"/>
            <c:spPr>
              <a:solidFill>
                <a:srgbClr val="E67E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0CA-4C65-B416-5FAC849E7EA3}"/>
              </c:ext>
            </c:extLst>
          </c:dPt>
          <c:dPt>
            <c:idx val="5"/>
            <c:invertIfNegative val="0"/>
            <c:bubble3D val="0"/>
            <c:spPr>
              <a:solidFill>
                <a:srgbClr val="F39C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E0CA-4C65-B416-5FAC849E7EA3}"/>
              </c:ext>
            </c:extLst>
          </c:dPt>
          <c:dPt>
            <c:idx val="6"/>
            <c:invertIfNegative val="0"/>
            <c:bubble3D val="0"/>
            <c:spPr>
              <a:solidFill>
                <a:srgbClr val="F39C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E0CA-4C65-B416-5FAC849E7EA3}"/>
              </c:ext>
            </c:extLst>
          </c:dPt>
          <c:dPt>
            <c:idx val="7"/>
            <c:invertIfNegative val="0"/>
            <c:bubble3D val="0"/>
            <c:spPr>
              <a:solidFill>
                <a:srgbClr val="2980B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E0CA-4C65-B416-5FAC849E7EA3}"/>
              </c:ext>
            </c:extLst>
          </c:dPt>
          <c:dPt>
            <c:idx val="8"/>
            <c:invertIfNegative val="0"/>
            <c:bubble3D val="0"/>
            <c:spPr>
              <a:solidFill>
                <a:srgbClr val="2980B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E0CA-4C65-B416-5FAC849E7EA3}"/>
              </c:ext>
            </c:extLst>
          </c:dPt>
          <c:dPt>
            <c:idx val="9"/>
            <c:invertIfNegative val="0"/>
            <c:bubble3D val="0"/>
            <c:spPr>
              <a:solidFill>
                <a:srgbClr val="2980B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E0CA-4C65-B416-5FAC849E7EA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critical_dimension</c:v>
                </c:pt>
                <c:pt idx="1">
                  <c:v>is_advanced_node</c:v>
                </c:pt>
                <c:pt idx="2">
                  <c:v>vth</c:v>
                </c:pt>
                <c:pt idx="3">
                  <c:v>cd_vth_product</c:v>
                </c:pt>
                <c:pt idx="4">
                  <c:v>oxide_thickness</c:v>
                </c:pt>
                <c:pt idx="5">
                  <c:v>tech_encoded</c:v>
                </c:pt>
                <c:pt idx="6">
                  <c:v>defect_count</c:v>
                </c:pt>
                <c:pt idx="7">
                  <c:v>node_x_cd</c:v>
                </c:pt>
                <c:pt idx="8">
                  <c:v>uniformity_x_defect</c:v>
                </c:pt>
                <c:pt idx="9">
                  <c:v>defect_composite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0.8085</c:v>
                </c:pt>
                <c:pt idx="1">
                  <c:v>0.43619999999999998</c:v>
                </c:pt>
                <c:pt idx="2">
                  <c:v>0.2954</c:v>
                </c:pt>
                <c:pt idx="3">
                  <c:v>0.21160000000000001</c:v>
                </c:pt>
                <c:pt idx="4">
                  <c:v>0.17230000000000001</c:v>
                </c:pt>
                <c:pt idx="5">
                  <c:v>0.16850000000000001</c:v>
                </c:pt>
                <c:pt idx="6">
                  <c:v>0.15429999999999999</c:v>
                </c:pt>
                <c:pt idx="7">
                  <c:v>0.13980000000000001</c:v>
                </c:pt>
                <c:pt idx="8">
                  <c:v>0.1265</c:v>
                </c:pt>
                <c:pt idx="9">
                  <c:v>0.1147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E0CA-4C65-B416-5FAC849E7EA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"/>
        </c:scaling>
        <c:delete val="0"/>
        <c:axPos val="b"/>
        <c:majorGridlines>
          <c:spPr>
            <a:ln w="6350" cap="flat">
              <a:solidFill>
                <a:srgbClr val="DD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ko-K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3F7FC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altLang="ko-KR" sz="1800" b="0" i="0" u="none" strike="noStrike">
                <a:solidFill>
                  <a:srgbClr val="000000"/>
                </a:solidFill>
                <a:latin typeface="Arial"/>
              </a:rPr>
              <a:t>Phase</a:t>
            </a:r>
            <a:r>
              <a:rPr lang="ko-KR" altLang="en-US" sz="1800" b="0" i="0" u="none" strike="noStrike">
                <a:solidFill>
                  <a:srgbClr val="000000"/>
                </a:solidFill>
                <a:latin typeface="Arial"/>
              </a:rPr>
              <a:t>별 최고 </a:t>
            </a:r>
            <a:r>
              <a:rPr lang="en-US" altLang="ko-KR" sz="1800" b="0" i="0" u="none" strike="noStrike">
                <a:solidFill>
                  <a:srgbClr val="000000"/>
                </a:solidFill>
                <a:latin typeface="Arial"/>
              </a:rPr>
              <a:t>R² </a:t>
            </a:r>
            <a:r>
              <a:rPr lang="ko-KR" altLang="en-US" sz="1800" b="0" i="0" u="none" strike="noStrike">
                <a:solidFill>
                  <a:srgbClr val="000000"/>
                </a:solidFill>
                <a:latin typeface="Arial"/>
              </a:rPr>
              <a:t>추이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최고 R²</c:v>
                </c:pt>
              </c:strCache>
            </c:strRef>
          </c:tx>
          <c:spPr>
            <a:ln w="38100" cap="flat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Phase1
베이스라인</c:v>
                </c:pt>
                <c:pt idx="1">
                  <c:v>Phase2
튜닝</c:v>
                </c:pt>
                <c:pt idx="2">
                  <c:v>Phase3
앙상블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0.66830000000000001</c:v>
                </c:pt>
                <c:pt idx="1">
                  <c:v>0.67549999999999999</c:v>
                </c:pt>
                <c:pt idx="2">
                  <c:v>0.67549999999999999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BF66-48BB-8A03-685ED7BEB13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7"/>
          <c:min val="0.66"/>
        </c:scaling>
        <c:delete val="0"/>
        <c:axPos val="l"/>
        <c:majorGridlines>
          <c:spPr>
            <a:ln w="12700" cap="flat">
              <a:solidFill>
                <a:srgbClr val="DD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ko-K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3F7FC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ko-KR" altLang="en-US" sz="1800" b="0" i="0" u="none" strike="noStrike">
                <a:solidFill>
                  <a:srgbClr val="000000"/>
                </a:solidFill>
                <a:latin typeface="Arial"/>
              </a:rPr>
              <a:t>노드별 모델 </a:t>
            </a:r>
            <a:r>
              <a:rPr lang="en-US" altLang="ko-KR" sz="1800" b="0" i="0" u="none" strike="noStrike">
                <a:solidFill>
                  <a:srgbClr val="000000"/>
                </a:solidFill>
                <a:latin typeface="Arial"/>
              </a:rPr>
              <a:t>R² — 22nm </a:t>
            </a:r>
            <a:r>
              <a:rPr lang="ko-KR" altLang="en-US" sz="1800" b="0" i="0" u="none" strike="noStrike">
                <a:solidFill>
                  <a:srgbClr val="000000"/>
                </a:solidFill>
                <a:latin typeface="Arial"/>
              </a:rPr>
              <a:t>최저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노드별 R²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CF6-47EB-83B1-E23955BE93BA}"/>
              </c:ext>
            </c:extLst>
          </c:dPt>
          <c:dPt>
            <c:idx val="1"/>
            <c:invertIfNegative val="0"/>
            <c:bubble3D val="0"/>
            <c:spPr>
              <a:solidFill>
                <a:srgbClr val="E67E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CF6-47EB-83B1-E23955BE93BA}"/>
              </c:ext>
            </c:extLst>
          </c:dPt>
          <c:dPt>
            <c:idx val="2"/>
            <c:invertIfNegative val="0"/>
            <c:bubble3D val="0"/>
            <c:spPr>
              <a:solidFill>
                <a:srgbClr val="F39C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CF6-47EB-83B1-E23955BE93BA}"/>
              </c:ext>
            </c:extLst>
          </c:dPt>
          <c:dPt>
            <c:idx val="3"/>
            <c:invertIfNegative val="0"/>
            <c:bubble3D val="0"/>
            <c:spPr>
              <a:solidFill>
                <a:srgbClr val="1A7A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CF6-47EB-83B1-E23955BE93BA}"/>
              </c:ext>
            </c:extLst>
          </c:dPt>
          <c:dPt>
            <c:idx val="4"/>
            <c:invertIfNegative val="0"/>
            <c:bubble3D val="0"/>
            <c:spPr>
              <a:solidFill>
                <a:srgbClr val="2980B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CF6-47EB-83B1-E23955BE93B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7nm
(n=200)</c:v>
                </c:pt>
                <c:pt idx="1">
                  <c:v>10nm
(n=375)</c:v>
                </c:pt>
                <c:pt idx="2">
                  <c:v>14nm
(n=250)</c:v>
                </c:pt>
                <c:pt idx="3">
                  <c:v>22nm
(n=125)</c:v>
                </c:pt>
                <c:pt idx="4">
                  <c:v>28nm
(n=300)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0.68</c:v>
                </c:pt>
                <c:pt idx="1">
                  <c:v>0.79</c:v>
                </c:pt>
                <c:pt idx="2">
                  <c:v>0.62</c:v>
                </c:pt>
                <c:pt idx="3">
                  <c:v>0.47</c:v>
                </c:pt>
                <c:pt idx="4">
                  <c:v>0.55000000000000004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CF6-47EB-83B1-E23955BE93B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D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ko-K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3F7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9230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48132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280160"/>
            <a:ext cx="5029200" cy="5029200"/>
          </a:xfrm>
          <a:prstGeom prst="ellipse">
            <a:avLst/>
          </a:prstGeom>
          <a:solidFill>
            <a:srgbClr val="1E3A5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3291840"/>
            <a:ext cx="3474720" cy="3474720"/>
          </a:xfrm>
          <a:prstGeom prst="ellipse">
            <a:avLst/>
          </a:prstGeom>
          <a:solidFill>
            <a:srgbClr val="1E3A5F">
              <a:alpha val="3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475488"/>
            <a:ext cx="2743200" cy="329184"/>
          </a:xfrm>
          <a:prstGeom prst="rect">
            <a:avLst/>
          </a:prstGeom>
          <a:solidFill>
            <a:srgbClr val="C0392B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4754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ML  ·  XAI  ·  SEMICONDUCTOR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051560"/>
            <a:ext cx="8138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반도체 수율 예측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02920" y="1874520"/>
            <a:ext cx="8138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XAI 유의인자 분석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02920" y="2761488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8BA0B0"/>
                </a:solidFill>
              </a:rPr>
              <a:t>Semiconductor Yield Forecasting &amp; XAI Feature Importance Analysis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91840" y="3218688"/>
            <a:ext cx="256032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0" y="3456432"/>
            <a:ext cx="2148840" cy="1005840"/>
          </a:xfrm>
          <a:prstGeom prst="rect">
            <a:avLst/>
          </a:prstGeom>
          <a:solidFill>
            <a:srgbClr val="1E3A5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97280" y="349300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8DCF5"/>
                </a:solidFill>
              </a:rPr>
              <a:t>1,250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097280" y="40690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Wafer 수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566160" y="3456432"/>
            <a:ext cx="2148840" cy="1005840"/>
          </a:xfrm>
          <a:prstGeom prst="rect">
            <a:avLst/>
          </a:prstGeom>
          <a:solidFill>
            <a:srgbClr val="1E3A5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566160" y="349300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8DCF5"/>
                </a:solidFill>
              </a:rPr>
              <a:t>23개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566160" y="40690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비교 모델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35040" y="3456432"/>
            <a:ext cx="2148840" cy="1005840"/>
          </a:xfrm>
          <a:prstGeom prst="rect">
            <a:avLst/>
          </a:prstGeom>
          <a:solidFill>
            <a:srgbClr val="1E3A5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35040" y="349300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8DCF5"/>
                </a:solidFill>
              </a:rPr>
              <a:t>5-CV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035040" y="40690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R²=0.6755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4782312"/>
            <a:ext cx="8138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6677"/>
                </a:solidFill>
              </a:rPr>
              <a:t>5 Technology Nodes  ·  18 Process Features  ·  §1 ~ §9 Full Pipeline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  차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987552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8DCF5"/>
                </a:solidFill>
              </a:rPr>
              <a:t>Contents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048" y="1481328"/>
            <a:ext cx="4251960" cy="749808"/>
          </a:xfrm>
          <a:prstGeom prst="rect">
            <a:avLst/>
          </a:prstGeom>
          <a:solidFill>
            <a:srgbClr val="1E3A5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481328"/>
            <a:ext cx="475488" cy="7498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148132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50976" y="1536192"/>
            <a:ext cx="3584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프로젝트 배경 및 주제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50976" y="1883664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8DCF5"/>
                </a:solidFill>
              </a:rPr>
              <a:t>Problem Statement &amp; Objectives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18888" y="1481328"/>
            <a:ext cx="4251960" cy="749808"/>
          </a:xfrm>
          <a:prstGeom prst="rect">
            <a:avLst/>
          </a:prstGeom>
          <a:solidFill>
            <a:srgbClr val="1E3A5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18888" y="1481328"/>
            <a:ext cx="475488" cy="7498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4818888" y="148132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85816" y="1536192"/>
            <a:ext cx="3584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전체 워크플로우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385816" y="1883664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8DCF5"/>
                </a:solidFill>
              </a:rPr>
              <a:t>End-to-End Pipeline Overview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4048" y="2368296"/>
            <a:ext cx="4251960" cy="749808"/>
          </a:xfrm>
          <a:prstGeom prst="rect">
            <a:avLst/>
          </a:prstGeom>
          <a:solidFill>
            <a:srgbClr val="1E3A5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4048" y="2368296"/>
            <a:ext cx="475488" cy="7498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" y="2368296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50976" y="2423160"/>
            <a:ext cx="3584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데이터 소개 및 EDA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50976" y="2770632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8DCF5"/>
                </a:solidFill>
              </a:rPr>
              <a:t>Data &amp; Exploratory Analysis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18888" y="2368296"/>
            <a:ext cx="4251960" cy="749808"/>
          </a:xfrm>
          <a:prstGeom prst="rect">
            <a:avLst/>
          </a:prstGeom>
          <a:solidFill>
            <a:srgbClr val="1E3A5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18888" y="2368296"/>
            <a:ext cx="475488" cy="7498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4818888" y="2368296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85816" y="2423160"/>
            <a:ext cx="3584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모델링 &amp; 시행착오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385816" y="2770632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8DCF5"/>
                </a:solidFill>
              </a:rPr>
              <a:t>Modeling Journey &amp; Lessons Learned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84048" y="3255264"/>
            <a:ext cx="4251960" cy="749808"/>
          </a:xfrm>
          <a:prstGeom prst="rect">
            <a:avLst/>
          </a:prstGeom>
          <a:solidFill>
            <a:srgbClr val="1E3A5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84048" y="3255264"/>
            <a:ext cx="475488" cy="7498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384048" y="3255264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50976" y="3310128"/>
            <a:ext cx="3584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XAI 유의인자 분석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50976" y="3657600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8DCF5"/>
                </a:solidFill>
              </a:rPr>
              <a:t>5-Method Voting Ensemble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18888" y="3255264"/>
            <a:ext cx="4251960" cy="749808"/>
          </a:xfrm>
          <a:prstGeom prst="rect">
            <a:avLst/>
          </a:prstGeom>
          <a:solidFill>
            <a:srgbClr val="1E3A5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18888" y="3255264"/>
            <a:ext cx="475488" cy="7498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9"/>
          <p:cNvSpPr/>
          <p:nvPr/>
        </p:nvSpPr>
        <p:spPr>
          <a:xfrm>
            <a:off x="4818888" y="3255264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85816" y="3310128"/>
            <a:ext cx="3584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Streamlit UI/UX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385816" y="3657600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8DCF5"/>
                </a:solidFill>
              </a:rPr>
              <a:t>Interactive Dashboard (9 Tabs)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84048" y="4142232"/>
            <a:ext cx="4251960" cy="749808"/>
          </a:xfrm>
          <a:prstGeom prst="rect">
            <a:avLst/>
          </a:prstGeom>
          <a:solidFill>
            <a:srgbClr val="1E3A5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84048" y="4142232"/>
            <a:ext cx="475488" cy="7498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6" name="Text 34"/>
          <p:cNvSpPr/>
          <p:nvPr/>
        </p:nvSpPr>
        <p:spPr>
          <a:xfrm>
            <a:off x="384048" y="4142232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07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50976" y="4197096"/>
            <a:ext cx="3584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개선 실험 §8~§9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950976" y="4544568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8DCF5"/>
                </a:solidFill>
              </a:rPr>
              <a:t>Iterative Decision-Making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18888" y="4142232"/>
            <a:ext cx="4251960" cy="749808"/>
          </a:xfrm>
          <a:prstGeom prst="rect">
            <a:avLst/>
          </a:prstGeom>
          <a:solidFill>
            <a:srgbClr val="1E3A5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18888" y="4142232"/>
            <a:ext cx="475488" cy="7498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1" name="Text 39"/>
          <p:cNvSpPr/>
          <p:nvPr/>
        </p:nvSpPr>
        <p:spPr>
          <a:xfrm>
            <a:off x="4818888" y="4142232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08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5385816" y="4197096"/>
            <a:ext cx="3584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결론 및 시사점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5385816" y="4544568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8DCF5"/>
                </a:solidFill>
              </a:rPr>
              <a:t>Conclusions &amp; Takeaways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457200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0" b="1" dirty="0">
                <a:solidFill>
                  <a:srgbClr val="16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0" dirty="0"/>
          </a:p>
        </p:txBody>
      </p:sp>
      <p:sp>
        <p:nvSpPr>
          <p:cNvPr id="3" name="Shape 1"/>
          <p:cNvSpPr/>
          <p:nvPr/>
        </p:nvSpPr>
        <p:spPr>
          <a:xfrm>
            <a:off x="0" y="2331720"/>
            <a:ext cx="9144000" cy="9875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377440"/>
            <a:ext cx="81381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배경 및 주제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3401568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8DCF5"/>
                </a:solidFill>
              </a:rPr>
              <a:t>Problem Statement &amp; Objectives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09728"/>
            <a:ext cx="1645920" cy="274320"/>
          </a:xfrm>
          <a:prstGeom prst="rect">
            <a:avLst/>
          </a:prstGeom>
          <a:solidFill>
            <a:srgbClr val="C0392B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84048" y="1097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배경 및 동기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148840" y="82296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반도체 공정 수율 예측의 필요성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148840" y="566928"/>
            <a:ext cx="6583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Yield Prediction Matters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84048" y="987552"/>
            <a:ext cx="475488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078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15568" y="107899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B3A"/>
                </a:solidFill>
              </a:rPr>
              <a:t>첨단 노드의 수율 민감도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15568" y="141732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7nm 이하 공정에서 수율 1%p 개선 = 연간 수십억 원 원가 절감. 수십 개 공정 단계의 미세 편차가 누적되어 최종 수율에 직결.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84048" y="2267712"/>
            <a:ext cx="475488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23591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115568" y="235915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B3A"/>
                </a:solidFill>
              </a:rPr>
              <a:t>기존 SPC의 한계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15568" y="269748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통계적 공정 관리(SPC)는 단변수 방식 — 18개 공정 파라미터 간의 복잡한 상호작용을 포착하지 못함.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84048" y="3547872"/>
            <a:ext cx="475488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36393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115568" y="363931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B3A"/>
                </a:solidFill>
              </a:rPr>
              <a:t>ML 기반 예측의 필요성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15568" y="397764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비선형 공정-수율 관계를 학습하고, XAI로 핵심 제어 변수를 특정하여 공정 엔지니어에게 실행 가능한 인사이트 제공.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349240" y="987552"/>
            <a:ext cx="3383280" cy="342900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349240" y="1005840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2B3A"/>
                </a:solidFill>
              </a:rPr>
              <a:t>Technology Node별 평균 수율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40680" y="146304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B3A"/>
                </a:solidFill>
              </a:rPr>
              <a:t>7nm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80760" y="1499616"/>
            <a:ext cx="1519321" cy="31089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20"/>
          <p:cNvSpPr/>
          <p:nvPr/>
        </p:nvSpPr>
        <p:spPr>
          <a:xfrm>
            <a:off x="7627513" y="1499616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</a:rPr>
              <a:t>μ=0.583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40680" y="2029968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B3A"/>
                </a:solidFill>
              </a:rPr>
              <a:t>10nm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80760" y="2066544"/>
            <a:ext cx="1547988" cy="31089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5" name="Text 23"/>
          <p:cNvSpPr/>
          <p:nvPr/>
        </p:nvSpPr>
        <p:spPr>
          <a:xfrm>
            <a:off x="7656180" y="2066544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</a:rPr>
              <a:t>μ=0.594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40680" y="2596896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B3A"/>
                </a:solidFill>
              </a:rPr>
              <a:t>14nm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080760" y="2633472"/>
            <a:ext cx="891266" cy="31089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8" name="Text 26"/>
          <p:cNvSpPr/>
          <p:nvPr/>
        </p:nvSpPr>
        <p:spPr>
          <a:xfrm>
            <a:off x="6999458" y="2633472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</a:rPr>
              <a:t>μ=0.342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40680" y="3163824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B3A"/>
                </a:solidFill>
              </a:rPr>
              <a:t>22nm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80760" y="3200400"/>
            <a:ext cx="886054" cy="310896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31" name="Text 29"/>
          <p:cNvSpPr/>
          <p:nvPr/>
        </p:nvSpPr>
        <p:spPr>
          <a:xfrm>
            <a:off x="6994246" y="3200400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</a:rPr>
              <a:t>μ=0.340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440680" y="3730752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B3A"/>
                </a:solidFill>
              </a:rPr>
              <a:t>28nm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080760" y="3767328"/>
            <a:ext cx="899084" cy="310896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4" name="Text 32"/>
          <p:cNvSpPr/>
          <p:nvPr/>
        </p:nvSpPr>
        <p:spPr>
          <a:xfrm>
            <a:off x="7007276" y="3767328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</a:rPr>
              <a:t>μ=0.345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349240" y="4224528"/>
            <a:ext cx="3383280" cy="18288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6" name="Text 34"/>
          <p:cNvSpPr/>
          <p:nvPr/>
        </p:nvSpPr>
        <p:spPr>
          <a:xfrm>
            <a:off x="5349240" y="422452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</a:rPr>
              <a:t>고수율군 μ=0.59  vs  저수율군 μ=0.34  →  이분화!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09728"/>
            <a:ext cx="1645920" cy="274320"/>
          </a:xfrm>
          <a:prstGeom prst="rect">
            <a:avLst/>
          </a:prstGeom>
          <a:solidFill>
            <a:srgbClr val="C0392B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84048" y="1097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프로젝트 목표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148840" y="82296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 목표 및 기대 효과</a:t>
            </a:r>
            <a:endParaRPr lang="en-US" sz="2200" dirty="0"/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2AC61401-724A-4771-A3DC-3121024808A9}"/>
              </a:ext>
            </a:extLst>
          </p:cNvPr>
          <p:cNvGrpSpPr/>
          <p:nvPr/>
        </p:nvGrpSpPr>
        <p:grpSpPr>
          <a:xfrm>
            <a:off x="384048" y="987552"/>
            <a:ext cx="8449056" cy="3694176"/>
            <a:chOff x="384048" y="987552"/>
            <a:chExt cx="8449056" cy="3694176"/>
          </a:xfrm>
        </p:grpSpPr>
        <p:sp>
          <p:nvSpPr>
            <p:cNvPr id="5" name="Shape 3"/>
            <p:cNvSpPr/>
            <p:nvPr/>
          </p:nvSpPr>
          <p:spPr>
            <a:xfrm>
              <a:off x="384048" y="987552"/>
              <a:ext cx="4133088" cy="1755648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88900" dist="38100" dir="8100000" algn="bl" rotWithShape="0">
                <a:srgbClr val="000000">
                  <a:alpha val="16000"/>
                </a:srgbClr>
              </a:outerShdw>
            </a:effectLst>
          </p:spPr>
        </p:sp>
        <p:sp>
          <p:nvSpPr>
            <p:cNvPr id="6" name="Shape 4"/>
            <p:cNvSpPr/>
            <p:nvPr/>
          </p:nvSpPr>
          <p:spPr>
            <a:xfrm>
              <a:off x="384048" y="987552"/>
              <a:ext cx="4133088" cy="347472"/>
            </a:xfrm>
            <a:prstGeom prst="rect">
              <a:avLst/>
            </a:prstGeom>
            <a:solidFill>
              <a:srgbClr val="1E3A5F"/>
            </a:solidFill>
            <a:ln/>
          </p:spPr>
        </p:sp>
        <p:sp>
          <p:nvSpPr>
            <p:cNvPr id="7" name="Text 5"/>
            <p:cNvSpPr/>
            <p:nvPr/>
          </p:nvSpPr>
          <p:spPr>
            <a:xfrm>
              <a:off x="475488" y="987552"/>
              <a:ext cx="3950208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FFFFFF"/>
                  </a:solidFill>
                </a:rPr>
                <a:t>01    수율 예측 모델 구축</a:t>
              </a:r>
              <a:endParaRPr lang="en-US" sz="115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548640" y="1408176"/>
              <a:ext cx="3794760" cy="12618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1C2B3A"/>
                  </a:solidFill>
                </a:rPr>
                <a:t>27개 ML 모델 체계적 비교</a:t>
              </a:r>
              <a:endParaRPr lang="en-US" sz="1150" dirty="0"/>
            </a:p>
            <a:p>
              <a:pPr marL="0" indent="0">
                <a:buNone/>
              </a:pPr>
              <a:r>
                <a:rPr lang="en-US" sz="1150" dirty="0">
                  <a:solidFill>
                    <a:srgbClr val="1C2B3A"/>
                  </a:solidFill>
                </a:rPr>
                <a:t>→ GBM 최적 파라미터 선정</a:t>
              </a:r>
              <a:endParaRPr lang="en-US" sz="1150" dirty="0"/>
            </a:p>
            <a:p>
              <a:pPr marL="0" indent="0">
                <a:buNone/>
              </a:pPr>
              <a:r>
                <a:rPr lang="en-US" sz="1150" dirty="0">
                  <a:solidFill>
                    <a:srgbClr val="1C2B3A"/>
                  </a:solidFill>
                </a:rPr>
                <a:t>5-Fold CV R²=0.6755</a:t>
              </a:r>
              <a:endParaRPr lang="en-US" sz="115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4700016" y="987552"/>
              <a:ext cx="4133088" cy="1755648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88900" dist="38100" dir="8100000" algn="bl" rotWithShape="0">
                <a:srgbClr val="000000">
                  <a:alpha val="16000"/>
                </a:srgbClr>
              </a:outerShdw>
            </a:effectLst>
          </p:spPr>
        </p:sp>
        <p:sp>
          <p:nvSpPr>
            <p:cNvPr id="10" name="Shape 8"/>
            <p:cNvSpPr/>
            <p:nvPr/>
          </p:nvSpPr>
          <p:spPr>
            <a:xfrm>
              <a:off x="4700016" y="987552"/>
              <a:ext cx="4133088" cy="347472"/>
            </a:xfrm>
            <a:prstGeom prst="rect">
              <a:avLst/>
            </a:prstGeom>
            <a:solidFill>
              <a:srgbClr val="1E3A5F"/>
            </a:solidFill>
            <a:ln/>
          </p:spPr>
        </p:sp>
        <p:sp>
          <p:nvSpPr>
            <p:cNvPr id="11" name="Text 9"/>
            <p:cNvSpPr/>
            <p:nvPr/>
          </p:nvSpPr>
          <p:spPr>
            <a:xfrm>
              <a:off x="4791456" y="987552"/>
              <a:ext cx="3950208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FFFFFF"/>
                  </a:solidFill>
                </a:rPr>
                <a:t>02    XAI 유의인자 분석</a:t>
              </a:r>
              <a:endParaRPr lang="en-US" sz="115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4864608" y="1408176"/>
              <a:ext cx="3794760" cy="12618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1C2B3A"/>
                  </a:solidFill>
                </a:rPr>
                <a:t>5-Method Voting 앙상블</a:t>
              </a:r>
              <a:endParaRPr lang="en-US" sz="1150" dirty="0"/>
            </a:p>
            <a:p>
              <a:pPr marL="0" indent="0">
                <a:buNone/>
              </a:pPr>
              <a:r>
                <a:rPr lang="en-US" sz="1150" dirty="0">
                  <a:solidFill>
                    <a:srgbClr val="1C2B3A"/>
                  </a:solidFill>
                </a:rPr>
                <a:t>→ 공정 핵심 변수 정량 순위화</a:t>
              </a:r>
              <a:endParaRPr lang="en-US" sz="1150" dirty="0"/>
            </a:p>
            <a:p>
              <a:pPr marL="0" indent="0">
                <a:buNone/>
              </a:pPr>
              <a:r>
                <a:rPr lang="en-US" sz="1150" dirty="0">
                  <a:solidFill>
                    <a:srgbClr val="1C2B3A"/>
                  </a:solidFill>
                </a:rPr>
                <a:t>critical_dimension #1 (0.81)</a:t>
              </a:r>
              <a:endParaRPr lang="en-US" sz="115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384048" y="2926080"/>
              <a:ext cx="4133088" cy="1755648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88900" dist="38100" dir="8100000" algn="bl" rotWithShape="0">
                <a:srgbClr val="000000">
                  <a:alpha val="16000"/>
                </a:srgbClr>
              </a:outerShdw>
            </a:effectLst>
          </p:spPr>
        </p:sp>
        <p:sp>
          <p:nvSpPr>
            <p:cNvPr id="14" name="Shape 12"/>
            <p:cNvSpPr/>
            <p:nvPr/>
          </p:nvSpPr>
          <p:spPr>
            <a:xfrm>
              <a:off x="384048" y="2926080"/>
              <a:ext cx="4133088" cy="347472"/>
            </a:xfrm>
            <a:prstGeom prst="rect">
              <a:avLst/>
            </a:prstGeom>
            <a:solidFill>
              <a:srgbClr val="1E3A5F"/>
            </a:solidFill>
            <a:ln/>
          </p:spPr>
        </p:sp>
        <p:sp>
          <p:nvSpPr>
            <p:cNvPr id="15" name="Text 13"/>
            <p:cNvSpPr/>
            <p:nvPr/>
          </p:nvSpPr>
          <p:spPr>
            <a:xfrm>
              <a:off x="475488" y="2926080"/>
              <a:ext cx="3950208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FFFFFF"/>
                  </a:solidFill>
                </a:rPr>
                <a:t>03    재현 가능 파이프라인</a:t>
              </a:r>
              <a:endParaRPr lang="en-US" sz="115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548640" y="3346704"/>
              <a:ext cx="3794760" cy="12618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1C2B3A"/>
                  </a:solidFill>
                </a:rPr>
                <a:t>§1~§9 완전 재현 구조</a:t>
              </a:r>
              <a:endParaRPr lang="en-US" sz="1150" dirty="0"/>
            </a:p>
            <a:p>
              <a:pPr marL="0" indent="0">
                <a:buNone/>
              </a:pPr>
              <a:r>
                <a:rPr lang="en-US" sz="1150" dirty="0">
                  <a:solidFill>
                    <a:srgbClr val="1C2B3A"/>
                  </a:solidFill>
                </a:rPr>
                <a:t>best_params JSON 저장</a:t>
              </a:r>
              <a:endParaRPr lang="en-US" sz="1150" dirty="0"/>
            </a:p>
            <a:p>
              <a:pPr marL="0" indent="0">
                <a:buNone/>
              </a:pPr>
              <a:r>
                <a:rPr lang="en-US" sz="1150" dirty="0">
                  <a:solidFill>
                    <a:srgbClr val="1C2B3A"/>
                  </a:solidFill>
                </a:rPr>
                <a:t>하드코딩 없는 동적 참조</a:t>
              </a:r>
              <a:endParaRPr lang="en-US" sz="115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4700016" y="2926080"/>
              <a:ext cx="4133088" cy="1755648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88900" dist="38100" dir="8100000" algn="bl" rotWithShape="0">
                <a:srgbClr val="000000">
                  <a:alpha val="16000"/>
                </a:srgbClr>
              </a:outerShdw>
            </a:effectLst>
          </p:spPr>
        </p:sp>
        <p:sp>
          <p:nvSpPr>
            <p:cNvPr id="18" name="Shape 16"/>
            <p:cNvSpPr/>
            <p:nvPr/>
          </p:nvSpPr>
          <p:spPr>
            <a:xfrm>
              <a:off x="4700016" y="2926080"/>
              <a:ext cx="4133088" cy="347472"/>
            </a:xfrm>
            <a:prstGeom prst="rect">
              <a:avLst/>
            </a:prstGeom>
            <a:solidFill>
              <a:srgbClr val="1E3A5F"/>
            </a:solidFill>
            <a:ln/>
          </p:spPr>
        </p:sp>
        <p:sp>
          <p:nvSpPr>
            <p:cNvPr id="19" name="Text 17"/>
            <p:cNvSpPr/>
            <p:nvPr/>
          </p:nvSpPr>
          <p:spPr>
            <a:xfrm>
              <a:off x="4791456" y="2926080"/>
              <a:ext cx="3950208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FFFFFF"/>
                  </a:solidFill>
                </a:rPr>
                <a:t>04    Streamlit 서비스</a:t>
              </a:r>
              <a:endParaRPr lang="en-US" sz="115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4864608" y="3346704"/>
              <a:ext cx="3794760" cy="12618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1C2B3A"/>
                  </a:solidFill>
                </a:rPr>
                <a:t>9탭 인터랙티브 대시보드</a:t>
              </a:r>
              <a:endParaRPr lang="en-US" sz="1150" dirty="0"/>
            </a:p>
            <a:p>
              <a:pPr marL="0" indent="0">
                <a:buNone/>
              </a:pPr>
              <a:r>
                <a:rPr lang="en-US" sz="1150" dirty="0">
                  <a:solidFill>
                    <a:srgbClr val="1C2B3A"/>
                  </a:solidFill>
                </a:rPr>
                <a:t>실시간 시뮬레이션</a:t>
              </a:r>
              <a:endParaRPr lang="en-US" sz="1150" dirty="0"/>
            </a:p>
            <a:p>
              <a:pPr marL="0" indent="0">
                <a:buNone/>
              </a:pPr>
              <a:r>
                <a:rPr lang="en-US" sz="1150" dirty="0">
                  <a:solidFill>
                    <a:srgbClr val="1C2B3A"/>
                  </a:solidFill>
                </a:rPr>
                <a:t>개선 실험 버튼 재현</a:t>
              </a:r>
              <a:endParaRPr lang="en-US" sz="1150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457200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0" b="1" dirty="0">
                <a:solidFill>
                  <a:srgbClr val="16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0" dirty="0"/>
          </a:p>
        </p:txBody>
      </p:sp>
      <p:sp>
        <p:nvSpPr>
          <p:cNvPr id="3" name="Shape 1"/>
          <p:cNvSpPr/>
          <p:nvPr/>
        </p:nvSpPr>
        <p:spPr>
          <a:xfrm>
            <a:off x="0" y="2331720"/>
            <a:ext cx="9144000" cy="9875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377440"/>
            <a:ext cx="81381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워크플로우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3401568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8DCF5"/>
                </a:solidFill>
              </a:rPr>
              <a:t>End-to-End Pipeline Overview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09728"/>
            <a:ext cx="1645920" cy="274320"/>
          </a:xfrm>
          <a:prstGeom prst="rect">
            <a:avLst/>
          </a:prstGeom>
          <a:solidFill>
            <a:srgbClr val="2A5C8A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84048" y="1097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워크플로우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148840" y="82296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§1~§9 분석 파이프라인 전체 흐름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47472" y="804672"/>
            <a:ext cx="914400" cy="804672"/>
          </a:xfrm>
          <a:prstGeom prst="rect">
            <a:avLst/>
          </a:prstGeom>
          <a:solidFill>
            <a:srgbClr val="2A5C8A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" y="8412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§1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47472" y="10789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EDA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" y="13533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CF5"/>
                </a:solidFill>
              </a:rPr>
              <a:t>이분화·다중공선성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271016" y="1143000"/>
            <a:ext cx="109728" cy="128016"/>
          </a:xfrm>
          <a:prstGeom prst="rect">
            <a:avLst/>
          </a:prstGeom>
          <a:solidFill>
            <a:srgbClr val="AABCCC"/>
          </a:solidFill>
          <a:ln/>
        </p:spPr>
      </p:sp>
      <p:sp>
        <p:nvSpPr>
          <p:cNvPr id="10" name="Shape 8"/>
          <p:cNvSpPr/>
          <p:nvPr/>
        </p:nvSpPr>
        <p:spPr>
          <a:xfrm>
            <a:off x="1444752" y="804672"/>
            <a:ext cx="914400" cy="804672"/>
          </a:xfrm>
          <a:prstGeom prst="rect">
            <a:avLst/>
          </a:prstGeom>
          <a:solidFill>
            <a:srgbClr val="2980B9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444752" y="8412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§2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444752" y="10789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Baseline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44752" y="13533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CF5"/>
                </a:solidFill>
              </a:rPr>
              <a:t>27개 모델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368296" y="1143000"/>
            <a:ext cx="109728" cy="128016"/>
          </a:xfrm>
          <a:prstGeom prst="rect">
            <a:avLst/>
          </a:prstGeom>
          <a:solidFill>
            <a:srgbClr val="AABCCC"/>
          </a:solidFill>
          <a:ln/>
        </p:spPr>
      </p:sp>
      <p:sp>
        <p:nvSpPr>
          <p:cNvPr id="15" name="Shape 13"/>
          <p:cNvSpPr/>
          <p:nvPr/>
        </p:nvSpPr>
        <p:spPr>
          <a:xfrm>
            <a:off x="2542032" y="804672"/>
            <a:ext cx="914400" cy="804672"/>
          </a:xfrm>
          <a:prstGeom prst="rect">
            <a:avLst/>
          </a:prstGeom>
          <a:solidFill>
            <a:srgbClr val="1A7A4A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542032" y="8412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§3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542032" y="10789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Tuning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42032" y="13533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CF5"/>
                </a:solidFill>
              </a:rPr>
              <a:t>RandomizedSearch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465576" y="1143000"/>
            <a:ext cx="109728" cy="128016"/>
          </a:xfrm>
          <a:prstGeom prst="rect">
            <a:avLst/>
          </a:prstGeom>
          <a:solidFill>
            <a:srgbClr val="AABCCC"/>
          </a:solidFill>
          <a:ln/>
        </p:spPr>
      </p:sp>
      <p:sp>
        <p:nvSpPr>
          <p:cNvPr id="20" name="Shape 18"/>
          <p:cNvSpPr/>
          <p:nvPr/>
        </p:nvSpPr>
        <p:spPr>
          <a:xfrm>
            <a:off x="3639312" y="804672"/>
            <a:ext cx="914400" cy="804672"/>
          </a:xfrm>
          <a:prstGeom prst="rect">
            <a:avLst/>
          </a:prstGeom>
          <a:solidFill>
            <a:srgbClr val="D4680A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39312" y="8412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§4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39312" y="10789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Ensemble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39312" y="13533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CF5"/>
                </a:solidFill>
              </a:rPr>
              <a:t>Stacking/Voting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62856" y="1143000"/>
            <a:ext cx="109728" cy="128016"/>
          </a:xfrm>
          <a:prstGeom prst="rect">
            <a:avLst/>
          </a:prstGeom>
          <a:solidFill>
            <a:srgbClr val="AABCCC"/>
          </a:solidFill>
          <a:ln/>
        </p:spPr>
      </p:sp>
      <p:sp>
        <p:nvSpPr>
          <p:cNvPr id="25" name="Shape 23"/>
          <p:cNvSpPr/>
          <p:nvPr/>
        </p:nvSpPr>
        <p:spPr>
          <a:xfrm>
            <a:off x="4736592" y="804672"/>
            <a:ext cx="914400" cy="804672"/>
          </a:xfrm>
          <a:prstGeom prst="rect">
            <a:avLst/>
          </a:prstGeom>
          <a:solidFill>
            <a:srgbClr val="6C3483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36592" y="8412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§5-7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36592" y="10789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진단·요약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36592" y="13533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CF5"/>
                </a:solidFill>
              </a:rPr>
              <a:t>잔차·노드별R²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660136" y="1143000"/>
            <a:ext cx="109728" cy="128016"/>
          </a:xfrm>
          <a:prstGeom prst="rect">
            <a:avLst/>
          </a:prstGeom>
          <a:solidFill>
            <a:srgbClr val="AABCCC"/>
          </a:solidFill>
          <a:ln/>
        </p:spPr>
      </p:sp>
      <p:sp>
        <p:nvSpPr>
          <p:cNvPr id="30" name="Shape 28"/>
          <p:cNvSpPr/>
          <p:nvPr/>
        </p:nvSpPr>
        <p:spPr>
          <a:xfrm>
            <a:off x="5833872" y="804672"/>
            <a:ext cx="914400" cy="804672"/>
          </a:xfrm>
          <a:prstGeom prst="rect">
            <a:avLst/>
          </a:prstGeom>
          <a:solidFill>
            <a:srgbClr val="C0392B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833872" y="8412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§8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33872" y="10789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의사결정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833872" y="13533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CF5"/>
                </a:solidFill>
              </a:rPr>
              <a:t>4가지 시도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757416" y="1143000"/>
            <a:ext cx="109728" cy="128016"/>
          </a:xfrm>
          <a:prstGeom prst="rect">
            <a:avLst/>
          </a:prstGeom>
          <a:solidFill>
            <a:srgbClr val="AABCCC"/>
          </a:solidFill>
          <a:ln/>
        </p:spPr>
      </p:sp>
      <p:sp>
        <p:nvSpPr>
          <p:cNvPr id="35" name="Shape 33"/>
          <p:cNvSpPr/>
          <p:nvPr/>
        </p:nvSpPr>
        <p:spPr>
          <a:xfrm>
            <a:off x="6931152" y="804672"/>
            <a:ext cx="914400" cy="804672"/>
          </a:xfrm>
          <a:prstGeom prst="rect">
            <a:avLst/>
          </a:prstGeom>
          <a:solidFill>
            <a:srgbClr val="8E44AD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931152" y="8412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§9-1~3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931152" y="10789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후속실험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931152" y="13533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CF5"/>
                </a:solidFill>
              </a:rPr>
              <a:t>9가지 추가실험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854696" y="1143000"/>
            <a:ext cx="109728" cy="128016"/>
          </a:xfrm>
          <a:prstGeom prst="rect">
            <a:avLst/>
          </a:prstGeom>
          <a:solidFill>
            <a:srgbClr val="AABCCC"/>
          </a:solidFill>
          <a:ln/>
        </p:spPr>
      </p:sp>
      <p:sp>
        <p:nvSpPr>
          <p:cNvPr id="40" name="Shape 38"/>
          <p:cNvSpPr/>
          <p:nvPr/>
        </p:nvSpPr>
        <p:spPr>
          <a:xfrm>
            <a:off x="8028432" y="804672"/>
            <a:ext cx="914400" cy="804672"/>
          </a:xfrm>
          <a:prstGeom prst="rect">
            <a:avLst/>
          </a:prstGeom>
          <a:solidFill>
            <a:srgbClr val="0D1B2A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8028432" y="8412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XAI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028432" y="10789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Voting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028432" y="13533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CF5"/>
                </a:solidFill>
              </a:rPr>
              <a:t>5-Method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84048" y="18470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2B3A"/>
                </a:solidFill>
              </a:rPr>
              <a:t>피처셋 설계 진화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384048" y="2148840"/>
            <a:ext cx="2029968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84048" y="2148840"/>
            <a:ext cx="2029968" cy="274320"/>
          </a:xfrm>
          <a:prstGeom prst="rect">
            <a:avLst/>
          </a:prstGeom>
          <a:solidFill>
            <a:srgbClr val="95A5A6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2148840"/>
            <a:ext cx="1883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FS-A  (19개)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75488" y="2468880"/>
            <a:ext cx="1874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3A"/>
                </a:solidFill>
              </a:rPr>
              <a:t>원본 공정 파라미터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57200" y="3127248"/>
            <a:ext cx="18836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3A"/>
                </a:solidFill>
              </a:rPr>
              <a:t>R²=0.6615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532888" y="2148840"/>
            <a:ext cx="2029968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2532888" y="2148840"/>
            <a:ext cx="2029968" cy="27432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52" name="Text 50"/>
          <p:cNvSpPr/>
          <p:nvPr/>
        </p:nvSpPr>
        <p:spPr>
          <a:xfrm>
            <a:off x="2606040" y="2148840"/>
            <a:ext cx="1883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FS-B  (18개)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2624328" y="2468880"/>
            <a:ext cx="1874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3A"/>
                </a:solidFill>
              </a:rPr>
              <a:t>다중공선성 제거 — defect_density 삭제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606040" y="3127248"/>
            <a:ext cx="18836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3A"/>
                </a:solidFill>
              </a:rPr>
              <a:t>R²=0.6614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681728" y="2148840"/>
            <a:ext cx="2029968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681728" y="2148840"/>
            <a:ext cx="2029968" cy="274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7" name="Text 55"/>
          <p:cNvSpPr/>
          <p:nvPr/>
        </p:nvSpPr>
        <p:spPr>
          <a:xfrm>
            <a:off x="4754880" y="2148840"/>
            <a:ext cx="1883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FS-C  (23개) ★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4773168" y="2468880"/>
            <a:ext cx="1874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3A"/>
                </a:solidFill>
              </a:rPr>
              <a:t>EDA+FE 채택 — is_advanced_node / defect_composite / cd_vth_product 추가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754880" y="3127248"/>
            <a:ext cx="18836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</a:rPr>
              <a:t>R²=0.6761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830568" y="2148840"/>
            <a:ext cx="2029968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6830568" y="2148840"/>
            <a:ext cx="2029968" cy="274320"/>
          </a:xfrm>
          <a:prstGeom prst="rect">
            <a:avLst/>
          </a:prstGeom>
          <a:solidFill>
            <a:srgbClr val="D4680A"/>
          </a:solidFill>
          <a:ln/>
        </p:spPr>
      </p:sp>
      <p:sp>
        <p:nvSpPr>
          <p:cNvPr id="62" name="Text 60"/>
          <p:cNvSpPr/>
          <p:nvPr/>
        </p:nvSpPr>
        <p:spPr>
          <a:xfrm>
            <a:off x="6903720" y="2148840"/>
            <a:ext cx="1883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FS-D  (26개)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6922008" y="2468880"/>
            <a:ext cx="1874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3A"/>
                </a:solidFill>
              </a:rPr>
              <a:t>추가 파생 (실험 전용)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903720" y="3127248"/>
            <a:ext cx="18836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3A"/>
                </a:solidFill>
              </a:rPr>
              <a:t>R²=0.6757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384048" y="354787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2B3A"/>
                </a:solidFill>
              </a:rPr>
              <a:t>주요 산출물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384048" y="3840480"/>
            <a:ext cx="1600200" cy="749808"/>
          </a:xfrm>
          <a:prstGeom prst="rect">
            <a:avLst/>
          </a:prstGeom>
          <a:solidFill>
            <a:srgbClr val="EDF2F7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475488" y="3877056"/>
            <a:ext cx="1444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</a:rPr>
              <a:t> Figure 8종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2103120" y="3840480"/>
            <a:ext cx="1600200" cy="749808"/>
          </a:xfrm>
          <a:prstGeom prst="rect">
            <a:avLst/>
          </a:prstGeom>
          <a:solidFill>
            <a:srgbClr val="EDF2F7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2194560" y="3877056"/>
            <a:ext cx="1444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</a:rPr>
              <a:t> JSON/CSV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3822192" y="3840480"/>
            <a:ext cx="1600200" cy="749808"/>
          </a:xfrm>
          <a:prstGeom prst="rect">
            <a:avLst/>
          </a:prstGeom>
          <a:solidFill>
            <a:srgbClr val="EDF2F7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3913632" y="3877056"/>
            <a:ext cx="1444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</a:rPr>
              <a:t> best_model.pkl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5541264" y="3840480"/>
            <a:ext cx="1600200" cy="749808"/>
          </a:xfrm>
          <a:prstGeom prst="rect">
            <a:avLst/>
          </a:prstGeom>
          <a:solidFill>
            <a:srgbClr val="EDF2F7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5632704" y="3877056"/>
            <a:ext cx="1444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</a:rPr>
              <a:t> Streamlit 서비스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457200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0" b="1" dirty="0">
                <a:solidFill>
                  <a:srgbClr val="16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0" dirty="0"/>
          </a:p>
        </p:txBody>
      </p:sp>
      <p:sp>
        <p:nvSpPr>
          <p:cNvPr id="3" name="Shape 1"/>
          <p:cNvSpPr/>
          <p:nvPr/>
        </p:nvSpPr>
        <p:spPr>
          <a:xfrm>
            <a:off x="0" y="2331720"/>
            <a:ext cx="9144000" cy="9875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377440"/>
            <a:ext cx="81381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소개 및 EDA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3401568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8DCF5"/>
                </a:solidFill>
              </a:rPr>
              <a:t>Data Overview &amp; Exploratory Analysis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09728"/>
            <a:ext cx="1645920" cy="274320"/>
          </a:xfrm>
          <a:prstGeom prst="rect">
            <a:avLst/>
          </a:prstGeom>
          <a:solidFill>
            <a:srgbClr val="2A5C8A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84048" y="1097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EDA Flow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2148840" y="82296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§1~§9 분석 파이프라인 전체 흐름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2" name="그룹 121"/>
          <p:cNvGrpSpPr/>
          <p:nvPr/>
        </p:nvGrpSpPr>
        <p:grpSpPr>
          <a:xfrm>
            <a:off x="384048" y="857746"/>
            <a:ext cx="8301277" cy="1610161"/>
            <a:chOff x="-1166812" y="5670306"/>
            <a:chExt cx="11048999" cy="2143125"/>
          </a:xfrm>
        </p:grpSpPr>
        <p:pic>
          <p:nvPicPr>
            <p:cNvPr id="98" name="Google Shape;94;p14" descr="image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1166812" y="5670306"/>
              <a:ext cx="1738312" cy="2143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" name="Google Shape;95;p14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95375" y="5670306"/>
              <a:ext cx="1738312" cy="2143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" name="Google Shape;96;p14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357563" y="5794131"/>
              <a:ext cx="2000250" cy="1895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" name="Google Shape;97;p14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881688" y="5794131"/>
              <a:ext cx="1738312" cy="1895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" name="Google Shape;98;p14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8143875" y="5794131"/>
              <a:ext cx="1738312" cy="1895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" name="Google Shape;100;p14" descr="image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-431006" y="5917956"/>
              <a:ext cx="266700" cy="30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" name="Google Shape;101;p14"/>
            <p:cNvSpPr txBox="1"/>
            <p:nvPr/>
          </p:nvSpPr>
          <p:spPr>
            <a:xfrm>
              <a:off x="-919162" y="6956182"/>
              <a:ext cx="1243012" cy="7865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 dirty="0" err="1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df</a:t>
              </a:r>
              <a:r>
                <a:rPr lang="en-US" sz="1200" b="0" i="0" u="none" strike="noStrike" cap="none" dirty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, le, FS inputs</a:t>
              </a:r>
              <a:endParaRPr sz="1400" dirty="0"/>
            </a:p>
          </p:txBody>
        </p:sp>
        <p:pic>
          <p:nvPicPr>
            <p:cNvPr id="105" name="Google Shape;102;p14" descr="image.png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762000" y="6622806"/>
              <a:ext cx="142875" cy="228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" name="Google Shape;103;p14" descr="image.png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1812131" y="5917956"/>
              <a:ext cx="304800" cy="30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" name="Google Shape;104;p14"/>
            <p:cNvSpPr txBox="1"/>
            <p:nvPr/>
          </p:nvSpPr>
          <p:spPr>
            <a:xfrm>
              <a:off x="1343025" y="6956182"/>
              <a:ext cx="1243012" cy="7865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 dirty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t-test &amp; ANOVA</a:t>
              </a:r>
              <a:endParaRPr sz="1400" dirty="0"/>
            </a:p>
          </p:txBody>
        </p:sp>
        <p:pic>
          <p:nvPicPr>
            <p:cNvPr id="108" name="Google Shape;105;p14" descr="image.png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3024188" y="6622806"/>
              <a:ext cx="142875" cy="228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" name="Google Shape;106;p14" descr="image.png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4167188" y="6041781"/>
              <a:ext cx="381000" cy="30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" name="Google Shape;107;p14"/>
            <p:cNvSpPr txBox="1"/>
            <p:nvPr/>
          </p:nvSpPr>
          <p:spPr>
            <a:xfrm>
              <a:off x="3605213" y="6832356"/>
              <a:ext cx="1504950" cy="7865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GBM Probing (R²)</a:t>
              </a:r>
              <a:endParaRPr sz="1400"/>
            </a:p>
          </p:txBody>
        </p:sp>
        <p:pic>
          <p:nvPicPr>
            <p:cNvPr id="111" name="Google Shape;108;p14" descr="image.png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5548313" y="6622806"/>
              <a:ext cx="142875" cy="228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" name="Google Shape;109;p14" descr="image.png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6598444" y="6041781"/>
              <a:ext cx="304800" cy="30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" name="Google Shape;110;p14"/>
            <p:cNvSpPr txBox="1"/>
            <p:nvPr/>
          </p:nvSpPr>
          <p:spPr>
            <a:xfrm>
              <a:off x="6129338" y="6832356"/>
              <a:ext cx="1243012" cy="7865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Collinearity &amp; IQR</a:t>
              </a:r>
              <a:endParaRPr sz="1400"/>
            </a:p>
          </p:txBody>
        </p:sp>
        <p:pic>
          <p:nvPicPr>
            <p:cNvPr id="114" name="Google Shape;111;p14" descr="image.png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7810500" y="6622806"/>
              <a:ext cx="142875" cy="228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5" name="Google Shape;112;p14" descr="image.png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8860631" y="6041781"/>
              <a:ext cx="304800" cy="30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" name="Google Shape;113;p14"/>
            <p:cNvSpPr txBox="1"/>
            <p:nvPr/>
          </p:nvSpPr>
          <p:spPr>
            <a:xfrm>
              <a:off x="8391526" y="6832356"/>
              <a:ext cx="1243012" cy="7865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Viz &amp; JSON Output</a:t>
              </a:r>
              <a:endParaRPr sz="1400"/>
            </a:p>
          </p:txBody>
        </p:sp>
        <p:sp>
          <p:nvSpPr>
            <p:cNvPr id="117" name="Google Shape;116;p14"/>
            <p:cNvSpPr txBox="1"/>
            <p:nvPr/>
          </p:nvSpPr>
          <p:spPr>
            <a:xfrm>
              <a:off x="-950238" y="6365631"/>
              <a:ext cx="1305163" cy="5735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 dirty="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Data Ingestion</a:t>
              </a:r>
              <a:endParaRPr sz="1400" dirty="0"/>
            </a:p>
          </p:txBody>
        </p:sp>
        <p:sp>
          <p:nvSpPr>
            <p:cNvPr id="118" name="Google Shape;117;p14"/>
            <p:cNvSpPr txBox="1"/>
            <p:nvPr/>
          </p:nvSpPr>
          <p:spPr>
            <a:xfrm>
              <a:off x="1311950" y="6365631"/>
              <a:ext cx="1305163" cy="5735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Stats Verification</a:t>
              </a:r>
              <a:endParaRPr sz="1400"/>
            </a:p>
          </p:txBody>
        </p:sp>
        <p:sp>
          <p:nvSpPr>
            <p:cNvPr id="119" name="Google Shape;118;p14"/>
            <p:cNvSpPr txBox="1"/>
            <p:nvPr/>
          </p:nvSpPr>
          <p:spPr>
            <a:xfrm>
              <a:off x="3567589" y="6489456"/>
              <a:ext cx="1733072" cy="2867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 dirty="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Benchmarking</a:t>
              </a:r>
              <a:endParaRPr sz="1400" dirty="0"/>
            </a:p>
          </p:txBody>
        </p:sp>
        <p:sp>
          <p:nvSpPr>
            <p:cNvPr id="120" name="Google Shape;119;p14"/>
            <p:cNvSpPr txBox="1"/>
            <p:nvPr/>
          </p:nvSpPr>
          <p:spPr>
            <a:xfrm>
              <a:off x="6098262" y="6489456"/>
              <a:ext cx="1305163" cy="2867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Diagnosis</a:t>
              </a:r>
              <a:endParaRPr sz="1400"/>
            </a:p>
          </p:txBody>
        </p:sp>
        <p:sp>
          <p:nvSpPr>
            <p:cNvPr id="121" name="Google Shape;120;p14"/>
            <p:cNvSpPr txBox="1"/>
            <p:nvPr/>
          </p:nvSpPr>
          <p:spPr>
            <a:xfrm>
              <a:off x="8360449" y="6489456"/>
              <a:ext cx="1305163" cy="2867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Reporting</a:t>
              </a:r>
              <a:endParaRPr sz="1400"/>
            </a:p>
          </p:txBody>
        </p:sp>
      </p:grpSp>
    </p:spTree>
    <p:extLst>
      <p:ext uri="{BB962C8B-B14F-4D97-AF65-F5344CB8AC3E}">
        <p14:creationId xmlns:p14="http://schemas.microsoft.com/office/powerpoint/2010/main" val="839206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09728"/>
            <a:ext cx="1645920" cy="274320"/>
          </a:xfrm>
          <a:prstGeom prst="rect">
            <a:avLst/>
          </a:prstGeom>
          <a:solidFill>
            <a:srgbClr val="C0392B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84048" y="1097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데이터 소개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148840" y="82296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반도체 수율 예측 데이터셋 개요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84048" y="868680"/>
            <a:ext cx="2011680" cy="914400"/>
          </a:xfrm>
          <a:prstGeom prst="rect">
            <a:avLst/>
          </a:prstGeom>
          <a:solidFill>
            <a:srgbClr val="1E3A5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89611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8DCF5"/>
                </a:solidFill>
              </a:rPr>
              <a:t>1,250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84048" y="1463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Total Wafer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32888" y="868680"/>
            <a:ext cx="2011680" cy="914400"/>
          </a:xfrm>
          <a:prstGeom prst="rect">
            <a:avLst/>
          </a:prstGeom>
          <a:solidFill>
            <a:srgbClr val="1E3A5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32888" y="89611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8DCF5"/>
                </a:solidFill>
              </a:rPr>
              <a:t>18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532888" y="1463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공정 피처 수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81728" y="868680"/>
            <a:ext cx="2011680" cy="914400"/>
          </a:xfrm>
          <a:prstGeom prst="rect">
            <a:avLst/>
          </a:prstGeom>
          <a:solidFill>
            <a:srgbClr val="1E3A5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81728" y="89611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8DCF5"/>
                </a:solidFill>
              </a:rPr>
              <a:t>5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681728" y="1463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Technology Node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30568" y="868680"/>
            <a:ext cx="2011680" cy="914400"/>
          </a:xfrm>
          <a:prstGeom prst="rect">
            <a:avLst/>
          </a:prstGeom>
          <a:solidFill>
            <a:srgbClr val="1E3A5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30568" y="89611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8DCF5"/>
                </a:solidFill>
              </a:rPr>
              <a:t>yield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830568" y="1463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Target (0~1)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48840" y="82296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84048" y="1938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2B3A"/>
                </a:solidFill>
              </a:rPr>
              <a:t>주요 공정 파라미터 (18개)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84048" y="2313432"/>
            <a:ext cx="64008" cy="219456"/>
          </a:xfrm>
          <a:prstGeom prst="rect">
            <a:avLst/>
          </a:prstGeom>
          <a:solidFill>
            <a:srgbClr val="2A5C8A"/>
          </a:solidFill>
          <a:ln/>
        </p:spPr>
      </p:sp>
      <p:sp>
        <p:nvSpPr>
          <p:cNvPr id="20" name="Text 18"/>
          <p:cNvSpPr/>
          <p:nvPr/>
        </p:nvSpPr>
        <p:spPr>
          <a:xfrm>
            <a:off x="512064" y="226771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etch_rate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432304" y="226771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0B0"/>
                </a:solidFill>
              </a:rPr>
              <a:t>식각률 (nm/min)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84048" y="2633472"/>
            <a:ext cx="64008" cy="21945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3" name="Text 21"/>
          <p:cNvSpPr/>
          <p:nvPr/>
        </p:nvSpPr>
        <p:spPr>
          <a:xfrm>
            <a:off x="512064" y="258775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critical_dimension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432304" y="258775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</a:rPr>
              <a:t>임계 치수 CD (nm)  ★XAI #1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84048" y="2953512"/>
            <a:ext cx="64008" cy="219456"/>
          </a:xfrm>
          <a:prstGeom prst="rect">
            <a:avLst/>
          </a:prstGeom>
          <a:solidFill>
            <a:srgbClr val="2A5C8A"/>
          </a:solidFill>
          <a:ln/>
        </p:spPr>
      </p:sp>
      <p:sp>
        <p:nvSpPr>
          <p:cNvPr id="26" name="Text 24"/>
          <p:cNvSpPr/>
          <p:nvPr/>
        </p:nvSpPr>
        <p:spPr>
          <a:xfrm>
            <a:off x="512064" y="290779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oxide_thickness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432304" y="290779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0B0"/>
                </a:solidFill>
              </a:rPr>
              <a:t>산화막 두께 (Å)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84048" y="3273552"/>
            <a:ext cx="64008" cy="219456"/>
          </a:xfrm>
          <a:prstGeom prst="rect">
            <a:avLst/>
          </a:prstGeom>
          <a:solidFill>
            <a:srgbClr val="2A5C8A"/>
          </a:solidFill>
          <a:ln/>
        </p:spPr>
      </p:sp>
      <p:sp>
        <p:nvSpPr>
          <p:cNvPr id="29" name="Text 27"/>
          <p:cNvSpPr/>
          <p:nvPr/>
        </p:nvSpPr>
        <p:spPr>
          <a:xfrm>
            <a:off x="512064" y="322783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vth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432304" y="322783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0B0"/>
                </a:solidFill>
              </a:rPr>
              <a:t>임계 전압 (V)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84048" y="3593592"/>
            <a:ext cx="64008" cy="219456"/>
          </a:xfrm>
          <a:prstGeom prst="rect">
            <a:avLst/>
          </a:prstGeom>
          <a:solidFill>
            <a:srgbClr val="2A5C8A"/>
          </a:solidFill>
          <a:ln/>
        </p:spPr>
      </p:sp>
      <p:sp>
        <p:nvSpPr>
          <p:cNvPr id="32" name="Text 30"/>
          <p:cNvSpPr/>
          <p:nvPr/>
        </p:nvSpPr>
        <p:spPr>
          <a:xfrm>
            <a:off x="512064" y="354787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defect_count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432304" y="354787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0B0"/>
                </a:solidFill>
              </a:rPr>
              <a:t>결함 수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84048" y="3913632"/>
            <a:ext cx="64008" cy="219456"/>
          </a:xfrm>
          <a:prstGeom prst="rect">
            <a:avLst/>
          </a:prstGeom>
          <a:solidFill>
            <a:srgbClr val="2A5C8A"/>
          </a:solidFill>
          <a:ln/>
        </p:spPr>
      </p:sp>
      <p:sp>
        <p:nvSpPr>
          <p:cNvPr id="35" name="Text 33"/>
          <p:cNvSpPr/>
          <p:nvPr/>
        </p:nvSpPr>
        <p:spPr>
          <a:xfrm>
            <a:off x="512064" y="386791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thickness_uniformity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432304" y="386791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0B0"/>
                </a:solidFill>
              </a:rPr>
              <a:t>두께 균일도 (%)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84048" y="4233672"/>
            <a:ext cx="64008" cy="219456"/>
          </a:xfrm>
          <a:prstGeom prst="rect">
            <a:avLst/>
          </a:prstGeom>
          <a:solidFill>
            <a:srgbClr val="2A5C8A"/>
          </a:solidFill>
          <a:ln/>
        </p:spPr>
      </p:sp>
      <p:sp>
        <p:nvSpPr>
          <p:cNvPr id="38" name="Text 36"/>
          <p:cNvSpPr/>
          <p:nvPr/>
        </p:nvSpPr>
        <p:spPr>
          <a:xfrm>
            <a:off x="512064" y="418795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leakage_current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432304" y="418795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0B0"/>
                </a:solidFill>
              </a:rPr>
              <a:t>누설 전류 (A)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84048" y="4553712"/>
            <a:ext cx="64008" cy="219456"/>
          </a:xfrm>
          <a:prstGeom prst="rect">
            <a:avLst/>
          </a:prstGeom>
          <a:solidFill>
            <a:srgbClr val="2A5C8A"/>
          </a:solidFill>
          <a:ln/>
        </p:spPr>
      </p:sp>
      <p:sp>
        <p:nvSpPr>
          <p:cNvPr id="41" name="Text 39"/>
          <p:cNvSpPr/>
          <p:nvPr/>
        </p:nvSpPr>
        <p:spPr>
          <a:xfrm>
            <a:off x="512064" y="450799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resistance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432304" y="450799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0B0"/>
                </a:solidFill>
              </a:rPr>
              <a:t>저항 (Ω)</a:t>
            </a:r>
            <a:endParaRPr lang="en-US" sz="1000" dirty="0"/>
          </a:p>
        </p:txBody>
      </p:sp>
      <p:graphicFrame>
        <p:nvGraphicFramePr>
          <p:cNvPr id="43" name="Chart 0"/>
          <p:cNvGraphicFramePr/>
          <p:nvPr/>
        </p:nvGraphicFramePr>
        <p:xfrm>
          <a:off x="5166360" y="1938528"/>
          <a:ext cx="365760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4" name="Shape 41"/>
          <p:cNvSpPr/>
          <p:nvPr/>
        </p:nvSpPr>
        <p:spPr>
          <a:xfrm>
            <a:off x="384048" y="4782312"/>
            <a:ext cx="8412480" cy="27432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45" name="Text 42"/>
          <p:cNvSpPr/>
          <p:nvPr/>
        </p:nvSpPr>
        <p:spPr>
          <a:xfrm>
            <a:off x="384048" y="478231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</a:rPr>
              <a:t>TARGET: yield (0.0~1.0 연속형)  |  고수율 μ=0.59 (7/10nm)  /  저수율 μ=0.34 (14~28nm)</a:t>
            </a:r>
            <a:endParaRPr lang="en-US" sz="1000" dirty="0"/>
          </a:p>
        </p:txBody>
      </p:sp>
      <p:grpSp>
        <p:nvGrpSpPr>
          <p:cNvPr id="71" name="그룹 70"/>
          <p:cNvGrpSpPr/>
          <p:nvPr/>
        </p:nvGrpSpPr>
        <p:grpSpPr>
          <a:xfrm>
            <a:off x="178909" y="5586575"/>
            <a:ext cx="1306020" cy="1610161"/>
            <a:chOff x="-1617751" y="5714591"/>
            <a:chExt cx="1306020" cy="1610161"/>
          </a:xfrm>
        </p:grpSpPr>
        <p:pic>
          <p:nvPicPr>
            <p:cNvPr id="47" name="Google Shape;94;p14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1617751" y="5714591"/>
              <a:ext cx="1306020" cy="16101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" name="Google Shape;100;p14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-1064929" y="5900654"/>
              <a:ext cx="200376" cy="2290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" name="Google Shape;101;p14"/>
            <p:cNvSpPr txBox="1"/>
            <p:nvPr/>
          </p:nvSpPr>
          <p:spPr>
            <a:xfrm>
              <a:off x="-1431688" y="6680688"/>
              <a:ext cx="933893" cy="5909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 dirty="0" err="1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df</a:t>
              </a:r>
              <a:r>
                <a:rPr lang="en-US" sz="1200" b="0" i="0" u="none" strike="noStrike" cap="none" dirty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, le, FS inputs</a:t>
              </a:r>
              <a:endParaRPr sz="1400" dirty="0"/>
            </a:p>
          </p:txBody>
        </p:sp>
        <p:sp>
          <p:nvSpPr>
            <p:cNvPr id="66" name="Google Shape;116;p14"/>
            <p:cNvSpPr txBox="1"/>
            <p:nvPr/>
          </p:nvSpPr>
          <p:spPr>
            <a:xfrm>
              <a:off x="-1455036" y="6236999"/>
              <a:ext cx="980588" cy="4308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 dirty="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Data Ingestion</a:t>
              </a:r>
              <a:endParaRPr sz="1400" dirty="0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09728"/>
            <a:ext cx="1645920" cy="274320"/>
          </a:xfrm>
          <a:prstGeom prst="rect">
            <a:avLst/>
          </a:prstGeom>
          <a:solidFill>
            <a:srgbClr val="1A7A4A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84048" y="1097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EDA 핵심 발견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148840" y="82296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수율 이분화(Bimodal) 구조 발견 — 가장 중요한 EDA 인사이트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84048" y="896112"/>
            <a:ext cx="2011680" cy="822960"/>
          </a:xfrm>
          <a:prstGeom prst="rect">
            <a:avLst/>
          </a:prstGeom>
          <a:solidFill>
            <a:srgbClr val="1E3A5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9144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DCF5"/>
                </a:solidFill>
              </a:rPr>
              <a:t>35.1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84048" y="14264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t-통계량  t-test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32888" y="896112"/>
            <a:ext cx="2011680" cy="822960"/>
          </a:xfrm>
          <a:prstGeom prst="rect">
            <a:avLst/>
          </a:prstGeom>
          <a:solidFill>
            <a:srgbClr val="1E3A5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32888" y="9144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DCF5"/>
                </a:solidFill>
              </a:rPr>
              <a:t>&lt;10⁻¹⁸⁸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532888" y="14264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p-value  극도로 유의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81728" y="896112"/>
            <a:ext cx="2011680" cy="822960"/>
          </a:xfrm>
          <a:prstGeom prst="rect">
            <a:avLst/>
          </a:prstGeom>
          <a:solidFill>
            <a:srgbClr val="EDF2F7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81728" y="9144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2B3A"/>
                </a:solidFill>
              </a:rPr>
              <a:t>0.590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81728" y="14264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0B0"/>
                </a:solidFill>
              </a:rPr>
              <a:t>고수율 μ  7/10nm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30568" y="896112"/>
            <a:ext cx="2011680" cy="822960"/>
          </a:xfrm>
          <a:prstGeom prst="rect">
            <a:avLst/>
          </a:prstGeom>
          <a:solidFill>
            <a:srgbClr val="EDF2F7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30568" y="9144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2B3A"/>
                </a:solidFill>
              </a:rPr>
              <a:t>0.343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830568" y="14264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0B0"/>
                </a:solidFill>
              </a:rPr>
              <a:t>저수율 μ  14~28nm</a:t>
            </a:r>
            <a:endParaRPr lang="en-US" sz="95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384048" y="1865376"/>
          <a:ext cx="502920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Text 15"/>
          <p:cNvSpPr/>
          <p:nvPr/>
        </p:nvSpPr>
        <p:spPr>
          <a:xfrm>
            <a:off x="5577840" y="186537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2B3A"/>
                </a:solidFill>
              </a:rPr>
              <a:t>다중공선성 발견 &amp; 처리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577840" y="2194560"/>
            <a:ext cx="324612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669280" y="2231136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defect_density ↔ thickness_uniformity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669280" y="251460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</a:rPr>
              <a:t>Pearson r = 0.9996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</a:rPr>
              <a:t>→ defect_density 제거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</a:rPr>
              <a:t>→ defect_composite로 재표현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577840" y="3291840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2B3A"/>
                </a:solidFill>
              </a:rPr>
              <a:t>EDA → 피처 엔지니어링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577840" y="3639312"/>
            <a:ext cx="64008" cy="182880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24" name="Text 21"/>
          <p:cNvSpPr/>
          <p:nvPr/>
        </p:nvSpPr>
        <p:spPr>
          <a:xfrm>
            <a:off x="5687568" y="360273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is_advanced_node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552944" y="3602736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0B0"/>
                </a:solidFill>
              </a:rPr>
              <a:t>이분화 명시 (7/10nm=1)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5577840" y="3895344"/>
            <a:ext cx="64008" cy="182880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27" name="Text 24"/>
          <p:cNvSpPr/>
          <p:nvPr/>
        </p:nvSpPr>
        <p:spPr>
          <a:xfrm>
            <a:off x="5687568" y="385876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defect_composite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7552944" y="3858768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0B0"/>
                </a:solidFill>
              </a:rPr>
              <a:t>log(결함수 × 결함밀도)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5577840" y="4151376"/>
            <a:ext cx="64008" cy="182880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30" name="Text 27"/>
          <p:cNvSpPr/>
          <p:nvPr/>
        </p:nvSpPr>
        <p:spPr>
          <a:xfrm>
            <a:off x="5687568" y="411480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cd_vth_product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7552944" y="4114800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0B0"/>
                </a:solidFill>
              </a:rPr>
              <a:t>CD × Vth 상호작용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5577840" y="4407408"/>
            <a:ext cx="64008" cy="182880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33" name="Text 30"/>
          <p:cNvSpPr/>
          <p:nvPr/>
        </p:nvSpPr>
        <p:spPr>
          <a:xfrm>
            <a:off x="5687568" y="437083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uniformity_x_defect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7552944" y="4370832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0B0"/>
                </a:solidFill>
              </a:rPr>
              <a:t>균일도 × 결함수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5577840" y="4663440"/>
            <a:ext cx="64008" cy="182880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36" name="Text 33"/>
          <p:cNvSpPr/>
          <p:nvPr/>
        </p:nvSpPr>
        <p:spPr>
          <a:xfrm>
            <a:off x="5687568" y="462686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node_x_cd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7552944" y="4626864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0B0"/>
                </a:solidFill>
              </a:rPr>
              <a:t>노드코드 × CD</a:t>
            </a:r>
            <a:endParaRPr lang="en-US" sz="850" dirty="0"/>
          </a:p>
        </p:txBody>
      </p:sp>
      <p:pic>
        <p:nvPicPr>
          <p:cNvPr id="41" name="그림 4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78002" y="3547872"/>
            <a:ext cx="10229850" cy="1676400"/>
          </a:xfrm>
          <a:prstGeom prst="rect">
            <a:avLst/>
          </a:prstGeom>
        </p:spPr>
      </p:pic>
      <p:sp>
        <p:nvSpPr>
          <p:cNvPr id="42" name="직사각형 41"/>
          <p:cNvSpPr/>
          <p:nvPr/>
        </p:nvSpPr>
        <p:spPr>
          <a:xfrm>
            <a:off x="-235077" y="5262616"/>
            <a:ext cx="4572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dirty="0">
                <a:solidFill>
                  <a:srgbClr val="2C3E50"/>
                </a:solidFill>
                <a:latin typeface="Segoe UI" panose="020B0502040204020203" pitchFamily="34" charset="0"/>
              </a:rPr>
              <a:t>Technology node</a:t>
            </a:r>
            <a:r>
              <a:rPr lang="ko-KR" altLang="en-US" dirty="0">
                <a:solidFill>
                  <a:srgbClr val="2C3E50"/>
                </a:solidFill>
                <a:latin typeface="Segoe UI" panose="020B0502040204020203" pitchFamily="34" charset="0"/>
              </a:rPr>
              <a:t>별 </a:t>
            </a:r>
            <a:r>
              <a:rPr lang="en-US" altLang="ko-KR" dirty="0">
                <a:solidFill>
                  <a:srgbClr val="2C3E50"/>
                </a:solidFill>
                <a:latin typeface="Segoe UI" panose="020B0502040204020203" pitchFamily="34" charset="0"/>
              </a:rPr>
              <a:t>ANOVA (F=307.5, p&lt;10⁻¹⁸³) </a:t>
            </a:r>
            <a:r>
              <a:rPr lang="ko-KR" altLang="en-US" dirty="0">
                <a:solidFill>
                  <a:srgbClr val="2C3E50"/>
                </a:solidFill>
                <a:latin typeface="Segoe UI" panose="020B0502040204020203" pitchFamily="34" charset="0"/>
              </a:rPr>
              <a:t>결과</a:t>
            </a:r>
            <a:r>
              <a:rPr lang="en-US" altLang="ko-KR" dirty="0">
                <a:solidFill>
                  <a:srgbClr val="2C3E50"/>
                </a:solidFill>
                <a:latin typeface="Segoe UI" panose="020B0502040204020203" pitchFamily="34" charset="0"/>
              </a:rPr>
              <a:t>, </a:t>
            </a:r>
            <a:r>
              <a:rPr lang="ko-KR" altLang="en-US" dirty="0">
                <a:solidFill>
                  <a:srgbClr val="2C3E50"/>
                </a:solidFill>
                <a:latin typeface="Segoe UI" panose="020B0502040204020203" pitchFamily="34" charset="0"/>
              </a:rPr>
              <a:t>수율 분포가 </a:t>
            </a:r>
            <a:r>
              <a:rPr lang="ko-KR" altLang="en-US" b="1" dirty="0">
                <a:solidFill>
                  <a:srgbClr val="2C3E50"/>
                </a:solidFill>
                <a:latin typeface="Segoe UI" panose="020B0502040204020203" pitchFamily="34" charset="0"/>
              </a:rPr>
              <a:t>두 클러스터로 명확히 </a:t>
            </a:r>
            <a:r>
              <a:rPr lang="ko-KR" altLang="en-US" b="1" dirty="0" err="1">
                <a:solidFill>
                  <a:srgbClr val="2C3E50"/>
                </a:solidFill>
                <a:latin typeface="Segoe UI" panose="020B0502040204020203" pitchFamily="34" charset="0"/>
              </a:rPr>
              <a:t>이분화</a:t>
            </a:r>
            <a:r>
              <a:rPr lang="ko-KR" altLang="en-US" dirty="0" err="1">
                <a:solidFill>
                  <a:srgbClr val="2C3E50"/>
                </a:solidFill>
                <a:latin typeface="Segoe UI" panose="020B0502040204020203" pitchFamily="34" charset="0"/>
              </a:rPr>
              <a:t>됨을</a:t>
            </a:r>
            <a:r>
              <a:rPr lang="ko-KR" altLang="en-US" dirty="0">
                <a:solidFill>
                  <a:srgbClr val="2C3E50"/>
                </a:solidFill>
                <a:latin typeface="Segoe UI" panose="020B0502040204020203" pitchFamily="34" charset="0"/>
              </a:rPr>
              <a:t> 확인하였다</a:t>
            </a:r>
            <a:r>
              <a:rPr lang="en-US" altLang="ko-KR" dirty="0">
                <a:solidFill>
                  <a:srgbClr val="2C3E50"/>
                </a:solidFill>
                <a:latin typeface="Segoe UI" panose="020B0502040204020203" pitchFamily="34" charset="0"/>
              </a:rPr>
              <a:t>. 7nm/10nm (</a:t>
            </a:r>
            <a:r>
              <a:rPr lang="ko-KR" altLang="en-US" dirty="0" err="1">
                <a:solidFill>
                  <a:srgbClr val="2C3E50"/>
                </a:solidFill>
                <a:latin typeface="Segoe UI" panose="020B0502040204020203" pitchFamily="34" charset="0"/>
              </a:rPr>
              <a:t>고수율</a:t>
            </a:r>
            <a:r>
              <a:rPr lang="ko-KR" altLang="en-US" dirty="0">
                <a:solidFill>
                  <a:srgbClr val="2C3E50"/>
                </a:solidFill>
                <a:latin typeface="Segoe UI" panose="020B0502040204020203" pitchFamily="34" charset="0"/>
              </a:rPr>
              <a:t> 그룹</a:t>
            </a:r>
            <a:r>
              <a:rPr lang="en-US" altLang="ko-KR" dirty="0">
                <a:solidFill>
                  <a:srgbClr val="2C3E50"/>
                </a:solidFill>
                <a:latin typeface="Segoe UI" panose="020B0502040204020203" pitchFamily="34" charset="0"/>
              </a:rPr>
              <a:t>, μ=0.590) vs 14nm/22nm/28nm (</a:t>
            </a:r>
            <a:r>
              <a:rPr lang="ko-KR" altLang="en-US" dirty="0">
                <a:solidFill>
                  <a:srgbClr val="2C3E50"/>
                </a:solidFill>
                <a:latin typeface="Segoe UI" panose="020B0502040204020203" pitchFamily="34" charset="0"/>
              </a:rPr>
              <a:t>저수율 그룹</a:t>
            </a:r>
            <a:r>
              <a:rPr lang="en-US" altLang="ko-KR" dirty="0">
                <a:solidFill>
                  <a:srgbClr val="2C3E50"/>
                </a:solidFill>
                <a:latin typeface="Segoe UI" panose="020B0502040204020203" pitchFamily="34" charset="0"/>
              </a:rPr>
              <a:t>, μ=0.343)</a:t>
            </a:r>
            <a:r>
              <a:rPr lang="ko-KR" altLang="en-US" dirty="0">
                <a:solidFill>
                  <a:srgbClr val="2C3E50"/>
                </a:solidFill>
                <a:latin typeface="Segoe UI" panose="020B0502040204020203" pitchFamily="34" charset="0"/>
              </a:rPr>
              <a:t>로 평균 차이가 </a:t>
            </a:r>
            <a:r>
              <a:rPr lang="en-US" altLang="ko-KR" dirty="0">
                <a:solidFill>
                  <a:srgbClr val="2C3E50"/>
                </a:solidFill>
                <a:latin typeface="Segoe UI" panose="020B0502040204020203" pitchFamily="34" charset="0"/>
              </a:rPr>
              <a:t>0.247</a:t>
            </a:r>
            <a:r>
              <a:rPr lang="ko-KR" altLang="en-US" dirty="0">
                <a:solidFill>
                  <a:srgbClr val="2C3E50"/>
                </a:solidFill>
                <a:latin typeface="Segoe UI" panose="020B0502040204020203" pitchFamily="34" charset="0"/>
              </a:rPr>
              <a:t>에 달하며</a:t>
            </a:r>
            <a:r>
              <a:rPr lang="en-US" altLang="ko-KR" dirty="0">
                <a:solidFill>
                  <a:srgbClr val="2C3E50"/>
                </a:solidFill>
                <a:latin typeface="Segoe UI" panose="020B0502040204020203" pitchFamily="34" charset="0"/>
              </a:rPr>
              <a:t>, </a:t>
            </a:r>
            <a:r>
              <a:rPr lang="ko-KR" altLang="en-US" dirty="0" err="1">
                <a:solidFill>
                  <a:srgbClr val="2C3E50"/>
                </a:solidFill>
                <a:latin typeface="Segoe UI" panose="020B0502040204020203" pitchFamily="34" charset="0"/>
              </a:rPr>
              <a:t>독립표본</a:t>
            </a:r>
            <a:r>
              <a:rPr lang="ko-KR" altLang="en-US" dirty="0">
                <a:solidFill>
                  <a:srgbClr val="2C3E50"/>
                </a:solidFill>
                <a:latin typeface="Segoe UI" panose="020B0502040204020203" pitchFamily="34" charset="0"/>
              </a:rPr>
              <a:t> </a:t>
            </a:r>
            <a:r>
              <a:rPr lang="en-US" altLang="ko-KR" dirty="0">
                <a:solidFill>
                  <a:srgbClr val="2C3E50"/>
                </a:solidFill>
                <a:latin typeface="Segoe UI" panose="020B0502040204020203" pitchFamily="34" charset="0"/>
              </a:rPr>
              <a:t>t-</a:t>
            </a:r>
            <a:r>
              <a:rPr lang="ko-KR" altLang="en-US" dirty="0">
                <a:solidFill>
                  <a:srgbClr val="2C3E50"/>
                </a:solidFill>
                <a:latin typeface="Segoe UI" panose="020B0502040204020203" pitchFamily="34" charset="0"/>
              </a:rPr>
              <a:t>검정에서도 </a:t>
            </a:r>
            <a:r>
              <a:rPr lang="en-US" altLang="ko-KR" dirty="0">
                <a:solidFill>
                  <a:srgbClr val="2C3E50"/>
                </a:solidFill>
                <a:latin typeface="Segoe UI" panose="020B0502040204020203" pitchFamily="34" charset="0"/>
              </a:rPr>
              <a:t>t=35.1, p=3.6×10⁻¹⁸⁸</a:t>
            </a:r>
            <a:r>
              <a:rPr lang="ko-KR" altLang="en-US" dirty="0">
                <a:solidFill>
                  <a:srgbClr val="2C3E50"/>
                </a:solidFill>
                <a:latin typeface="Segoe UI" panose="020B0502040204020203" pitchFamily="34" charset="0"/>
              </a:rPr>
              <a:t>로 극도로 유의하다</a:t>
            </a:r>
            <a:r>
              <a:rPr lang="en-US" altLang="ko-KR" dirty="0">
                <a:solidFill>
                  <a:srgbClr val="2C3E50"/>
                </a:solidFill>
                <a:latin typeface="Segoe UI" panose="020B0502040204020203" pitchFamily="34" charset="0"/>
              </a:rPr>
              <a:t>. </a:t>
            </a:r>
            <a:r>
              <a:rPr lang="ko-KR" altLang="en-US" dirty="0">
                <a:solidFill>
                  <a:srgbClr val="2C3E50"/>
                </a:solidFill>
                <a:latin typeface="Segoe UI" panose="020B0502040204020203" pitchFamily="34" charset="0"/>
              </a:rPr>
              <a:t>이는 모델링 시 </a:t>
            </a:r>
            <a:r>
              <a:rPr lang="en-US" altLang="ko-KR" b="1" dirty="0">
                <a:solidFill>
                  <a:srgbClr val="2C3E50"/>
                </a:solidFill>
                <a:latin typeface="Segoe UI" panose="020B0502040204020203" pitchFamily="34" charset="0"/>
              </a:rPr>
              <a:t>technology node</a:t>
            </a:r>
            <a:r>
              <a:rPr lang="ko-KR" altLang="en-US" b="1" dirty="0">
                <a:solidFill>
                  <a:srgbClr val="2C3E50"/>
                </a:solidFill>
                <a:latin typeface="Segoe UI" panose="020B0502040204020203" pitchFamily="34" charset="0"/>
              </a:rPr>
              <a:t>를 주요 피처로 반드시 포함</a:t>
            </a:r>
            <a:r>
              <a:rPr lang="ko-KR" altLang="en-US" dirty="0">
                <a:solidFill>
                  <a:srgbClr val="2C3E50"/>
                </a:solidFill>
                <a:latin typeface="Segoe UI" panose="020B0502040204020203" pitchFamily="34" charset="0"/>
              </a:rPr>
              <a:t>해야 하며</a:t>
            </a:r>
            <a:r>
              <a:rPr lang="en-US" altLang="ko-KR" dirty="0">
                <a:solidFill>
                  <a:srgbClr val="2C3E50"/>
                </a:solidFill>
                <a:latin typeface="Segoe UI" panose="020B0502040204020203" pitchFamily="34" charset="0"/>
              </a:rPr>
              <a:t>, </a:t>
            </a:r>
            <a:r>
              <a:rPr lang="ko-KR" altLang="en-US" dirty="0">
                <a:solidFill>
                  <a:srgbClr val="2C3E50"/>
                </a:solidFill>
                <a:latin typeface="Segoe UI" panose="020B0502040204020203" pitchFamily="34" charset="0"/>
              </a:rPr>
              <a:t>가능하면 이분화 정보를 명시적 파생 변수로 추가해야 한다는 설계 근거가 된다</a:t>
            </a:r>
            <a:r>
              <a:rPr lang="en-US" altLang="ko-KR" dirty="0">
                <a:solidFill>
                  <a:srgbClr val="2C3E50"/>
                </a:solidFill>
                <a:latin typeface="Segoe UI" panose="020B0502040204020203" pitchFamily="34" charset="0"/>
              </a:rPr>
              <a:t>.</a:t>
            </a:r>
            <a:endParaRPr lang="ko-KR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457200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0" b="1" dirty="0">
                <a:solidFill>
                  <a:srgbClr val="16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0" dirty="0"/>
          </a:p>
        </p:txBody>
      </p:sp>
      <p:sp>
        <p:nvSpPr>
          <p:cNvPr id="3" name="Shape 1"/>
          <p:cNvSpPr/>
          <p:nvPr/>
        </p:nvSpPr>
        <p:spPr>
          <a:xfrm>
            <a:off x="0" y="2331720"/>
            <a:ext cx="9144000" cy="9875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377440"/>
            <a:ext cx="81381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모델링 과정 &amp; 시행착오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3401568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8DCF5"/>
                </a:solidFill>
              </a:rPr>
              <a:t>Modeling Journey &amp; Lessons Learned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09728"/>
            <a:ext cx="1645920" cy="274320"/>
          </a:xfrm>
          <a:prstGeom prst="rect">
            <a:avLst/>
          </a:prstGeom>
          <a:solidFill>
            <a:srgbClr val="2A5C8A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84048" y="1097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Phase 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148840" y="82296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23개 모델 베이스라인 스크리닝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148840" y="566928"/>
            <a:ext cx="6583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카테고리별 계층적 비교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84048" y="868680"/>
          <a:ext cx="539496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961888" y="868680"/>
            <a:ext cx="283464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961888" y="868680"/>
            <a:ext cx="109728" cy="89611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6"/>
          <p:cNvSpPr/>
          <p:nvPr/>
        </p:nvSpPr>
        <p:spPr>
          <a:xfrm>
            <a:off x="6126480" y="932688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2B3A"/>
                </a:solidFill>
              </a:rPr>
              <a:t> 부스팅 계열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126480" y="1271016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</a:rPr>
              <a:t>GBM + HistGBM(XGB/LGBM/CB 대안)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</a:rPr>
              <a:t>→ 부스팅이 전체 1·2위 점령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961888" y="1874520"/>
            <a:ext cx="283464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961888" y="1874520"/>
            <a:ext cx="109728" cy="89611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3" name="Text 10"/>
          <p:cNvSpPr/>
          <p:nvPr/>
        </p:nvSpPr>
        <p:spPr>
          <a:xfrm>
            <a:off x="6126480" y="1938528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2B3A"/>
                </a:solidFill>
              </a:rPr>
              <a:t> 앙상블 계열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126480" y="2276856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</a:rPr>
              <a:t>Bagging, RF, AdaBoost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</a:rPr>
              <a:t>→ 부스팅 다음 2위권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961888" y="2880360"/>
            <a:ext cx="283464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961888" y="2880360"/>
            <a:ext cx="109728" cy="896112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7" name="Text 14"/>
          <p:cNvSpPr/>
          <p:nvPr/>
        </p:nvSpPr>
        <p:spPr>
          <a:xfrm>
            <a:off x="6126480" y="2944368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2B3A"/>
                </a:solidFill>
              </a:rPr>
              <a:t> 비선형 커널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126480" y="3282696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</a:rPr>
              <a:t>SVR, NuSVR, KNN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</a:rPr>
              <a:t>→ 중간 성능, 스케일링 필수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961888" y="3886200"/>
            <a:ext cx="283464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961888" y="3886200"/>
            <a:ext cx="109728" cy="896112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21" name="Text 18"/>
          <p:cNvSpPr/>
          <p:nvPr/>
        </p:nvSpPr>
        <p:spPr>
          <a:xfrm>
            <a:off x="6126480" y="3950208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2B3A"/>
                </a:solidFill>
              </a:rPr>
              <a:t> 선형 계열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126480" y="4288536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</a:rPr>
              <a:t>Linear, Ridge, Lasso...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</a:rPr>
              <a:t>→ 비선형 패턴 포착 한계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84048" y="4828032"/>
            <a:ext cx="8412480" cy="2560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4" name="Text 21"/>
          <p:cNvSpPr/>
          <p:nvPr/>
        </p:nvSpPr>
        <p:spPr>
          <a:xfrm>
            <a:off x="384048" y="4828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XGBoost/LightGBM/CatBoost 미설치 → HistGBM 파라미터 조정으로 자동 대안 적용 (_try_import())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09728"/>
            <a:ext cx="1645920" cy="274320"/>
          </a:xfrm>
          <a:prstGeom prst="rect">
            <a:avLst/>
          </a:prstGeom>
          <a:solidFill>
            <a:srgbClr val="C0392B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84048" y="1097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⚠ 시행착오 ①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148840" y="82296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Phase1 결과가 Phase2에 하드코딩 — 재현성 훼손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148840" y="566928"/>
            <a:ext cx="6583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논리 오류: 단계 간 결과를 고정값으로 복사해 동적 연결 끊김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84048" y="841248"/>
            <a:ext cx="4114800" cy="26060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841248"/>
            <a:ext cx="4114800" cy="31089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84124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  초기 코드 (잘못된 방식)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5488" y="1188720"/>
            <a:ext cx="39319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Phase2 튜닝 코드 — 초기 버전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baseline_r2 =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"Gradient Boosting": 0.6596,  # 하드코딩 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"Random Forest":     0.6611,  # 하드코딩 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"AdaBoost":          0.6654,  # 하드코딩 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Phase1 재실험 시 Phase2 기준값이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자동으로 갱신되지 않아 분석 불일치 발생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617720" y="1901952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8BA0B0"/>
                </a:solidFill>
              </a:rPr>
              <a:t>→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5166360" y="841248"/>
            <a:ext cx="3639312" cy="26060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166360" y="841248"/>
            <a:ext cx="3639312" cy="310896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13" name="Text 11"/>
          <p:cNvSpPr/>
          <p:nvPr/>
        </p:nvSpPr>
        <p:spPr>
          <a:xfrm>
            <a:off x="5257800" y="841248"/>
            <a:ext cx="3456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  수정 코드 (동적 참조)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257800" y="1188720"/>
            <a:ext cx="3456432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Phase2 — 수정 버전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baseline_r2 =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p1_results[name]['R2_mean']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name in TOP_CANDIDATES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name in p1_results  # 동적 참조 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best_params 포함 JSON 저장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save_json({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'baseline_r2': ...,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'best_params': search.best_params_,  # 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'cv5_r2': ...,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 'sec3_tuning_results')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84048" y="3584448"/>
            <a:ext cx="8412480" cy="1078992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62102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  교훈 및 개선 원칙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30352" y="3913632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① 파이프라인 단계 간 결과는 하드코딩이 아닌 동적 참조(JSON 로드)로 연결해야 함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② best_params를 포함한 모든 중간 결과를 저장해야 단계별 독립 재실행이 가능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③ 재현성(Reproducibility)은 ML 파이프라인에서 정확도만큼 중요한 설계 원칙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09728"/>
            <a:ext cx="1645920" cy="274320"/>
          </a:xfrm>
          <a:prstGeom prst="rect">
            <a:avLst/>
          </a:prstGeom>
          <a:solidFill>
            <a:srgbClr val="1A7A4A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84048" y="1097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Phase 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148840" y="82296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하이퍼파라미터 설계 — 각 파라미터의 이론적 근거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84048" y="896112"/>
            <a:ext cx="8412480" cy="603504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6" name="Shape 4"/>
          <p:cNvSpPr/>
          <p:nvPr/>
        </p:nvSpPr>
        <p:spPr>
          <a:xfrm>
            <a:off x="384048" y="896112"/>
            <a:ext cx="73152" cy="60350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93268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max_depth = 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0352" y="1225296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0B0"/>
                </a:solidFill>
              </a:rPr>
              <a:t>Weak Learner 철학 (Friedman 2002) — GBM은 얕은 트리를 순차 합산. 깊은 트리는 Boosting 효과 감소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4048" y="1554480"/>
            <a:ext cx="8412480" cy="603504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10" name="Shape 8"/>
          <p:cNvSpPr/>
          <p:nvPr/>
        </p:nvSpPr>
        <p:spPr>
          <a:xfrm>
            <a:off x="384048" y="1554480"/>
            <a:ext cx="73152" cy="60350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" y="159105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subsample = 0.9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" y="188366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0B0"/>
                </a:solidFill>
              </a:rPr>
              <a:t>Stochastic GBM — 매 반복 90% 샘플 사용 → 분산 감소 &amp; 학습 다양성 확보 (Dropout 유사 효과)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" y="2212848"/>
            <a:ext cx="8412480" cy="603504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4" name="Shape 12"/>
          <p:cNvSpPr/>
          <p:nvPr/>
        </p:nvSpPr>
        <p:spPr>
          <a:xfrm>
            <a:off x="384048" y="2212848"/>
            <a:ext cx="73152" cy="603504"/>
          </a:xfrm>
          <a:prstGeom prst="rect">
            <a:avLst/>
          </a:prstGeom>
          <a:solidFill>
            <a:srgbClr val="2A5C8A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" y="224942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learning_rate = 0.05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0352" y="254203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0B0"/>
                </a:solidFill>
              </a:rPr>
              <a:t>Shrinkage 균형점 — lr↓ = 일반화↑, lr↑ = 수렴 빠름. 0.05는 성능·속도 균형 (n_estimators=100 기준)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" y="2871216"/>
            <a:ext cx="8412480" cy="603504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8" name="Shape 16"/>
          <p:cNvSpPr/>
          <p:nvPr/>
        </p:nvSpPr>
        <p:spPr>
          <a:xfrm>
            <a:off x="384048" y="2871216"/>
            <a:ext cx="73152" cy="603504"/>
          </a:xfrm>
          <a:prstGeom prst="rect">
            <a:avLst/>
          </a:prstGeom>
          <a:solidFill>
            <a:srgbClr val="2A5C8A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" y="290779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max_features = 0.9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0352" y="320040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0B0"/>
                </a:solidFill>
              </a:rPr>
              <a:t>23개 피처 중 21개 — sqrt(≈5개)는 핵심 피처 누락 빈번, None은 단일 트리 과적합. 0.9가 최적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84048" y="3529584"/>
            <a:ext cx="8412480" cy="603504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2" name="Shape 20"/>
          <p:cNvSpPr/>
          <p:nvPr/>
        </p:nvSpPr>
        <p:spPr>
          <a:xfrm>
            <a:off x="384048" y="3529584"/>
            <a:ext cx="73152" cy="603504"/>
          </a:xfrm>
          <a:prstGeom prst="rect">
            <a:avLst/>
          </a:prstGeom>
          <a:solidFill>
            <a:srgbClr val="2A5C8A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" y="356616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min_samples_leaf = 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0352" y="385876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0B0"/>
                </a:solidFill>
              </a:rPr>
              <a:t>최소 과적합 방지 — 1이면 단일 샘플 리프 허용으로 train overfit 위험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84048" y="4187952"/>
            <a:ext cx="8412480" cy="603504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6" name="Shape 24"/>
          <p:cNvSpPr/>
          <p:nvPr/>
        </p:nvSpPr>
        <p:spPr>
          <a:xfrm>
            <a:off x="384048" y="4187952"/>
            <a:ext cx="73152" cy="603504"/>
          </a:xfrm>
          <a:prstGeom prst="rect">
            <a:avLst/>
          </a:prstGeom>
          <a:solidFill>
            <a:srgbClr val="2A5C8A"/>
          </a:solidFill>
          <a:ln/>
        </p:spPr>
      </p:sp>
      <p:sp>
        <p:nvSpPr>
          <p:cNvPr id="27" name="Text 25"/>
          <p:cNvSpPr/>
          <p:nvPr/>
        </p:nvSpPr>
        <p:spPr>
          <a:xfrm>
            <a:off x="530352" y="422452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 = 100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0352" y="4517136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0B0"/>
                </a:solidFill>
              </a:rPr>
              <a:t>lr=0.05에서 100개 트리면 충분 수렴 확인. 200~300은 성능 미미 + 학습 시간 선형 증가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84048" y="4828032"/>
            <a:ext cx="8412480" cy="2743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0" name="Text 28"/>
          <p:cNvSpPr/>
          <p:nvPr/>
        </p:nvSpPr>
        <p:spPr>
          <a:xfrm>
            <a:off x="384048" y="48280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8DCF5"/>
                </a:solidFill>
              </a:rPr>
              <a:t>RandomizedSearchCV (n_iter=40, 3-Fold) → 5-Fold 최종 평가:  R²=0.6755  RMSE=0.0997  MAE=0.0825  std=0.0237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09728"/>
            <a:ext cx="1645920" cy="274320"/>
          </a:xfrm>
          <a:prstGeom prst="rect">
            <a:avLst/>
          </a:prstGeom>
          <a:solidFill>
            <a:srgbClr val="C0392B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84048" y="1097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⚠ 시행착오 ②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148840" y="82296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직관적 가설의 함정 — '노드별 전용 모델이 더 정밀하다'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148840" y="566928"/>
            <a:ext cx="6583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논리 오류: 데이터 분리 시 공통 패턴 정보까지 제거됨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84048" y="896112"/>
            <a:ext cx="4041648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896112"/>
            <a:ext cx="4041648" cy="31089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896112"/>
            <a:ext cx="3858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  초기 가설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" y="1261872"/>
            <a:ext cx="3767328" cy="1938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3A"/>
                </a:solidFill>
              </a:rPr>
              <a:t>노드마다 공정 특성이 다르다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B3A"/>
                </a:solidFill>
              </a:rPr>
              <a:t>→ 7nm 전용 모델, 22nm 전용 모델을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B3A"/>
                </a:solidFill>
              </a:rPr>
              <a:t>   각각 만들면 통합 모델보다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B3A"/>
                </a:solidFill>
              </a:rPr>
              <a:t>   더 정밀한 예측이 가능할 것이다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18288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8BA0B0"/>
                </a:solidFill>
              </a:rPr>
              <a:t>→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5120640" y="896112"/>
            <a:ext cx="3657600" cy="2377440"/>
          </a:xfrm>
          <a:prstGeom prst="rect">
            <a:avLst/>
          </a:prstGeom>
          <a:solidFill>
            <a:srgbClr val="FFF2F2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120640" y="896112"/>
            <a:ext cx="3657600" cy="31089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0" y="89611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  실험 결과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12080" y="1261872"/>
            <a:ext cx="3474720" cy="1938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7nm   통합=0.30  개별=0.18 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10nm  통합=0.41  개별=0.37 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22nm  통합=0.28  개별=-0.14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28nm  통합=0.28  개별=0.22  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전 노드에서 개별 모델 열등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4048" y="34015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2B3A"/>
                </a:solidFill>
              </a:rPr>
              <a:t>실패 원인 분석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84048" y="3712464"/>
            <a:ext cx="269748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3776" y="3785616"/>
            <a:ext cx="347472" cy="3474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" y="37856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①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3785616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2B3A"/>
                </a:solidFill>
              </a:rPr>
              <a:t>샘플 부족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4169664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22nm=125개 → fold당 학습 ~100개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통계적 안정성 부족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36976" y="3712464"/>
            <a:ext cx="269748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46704" y="3785616"/>
            <a:ext cx="347472" cy="3474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3" name="Text 21"/>
          <p:cNvSpPr/>
          <p:nvPr/>
        </p:nvSpPr>
        <p:spPr>
          <a:xfrm>
            <a:off x="3346704" y="37856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②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767328" y="3785616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2B3A"/>
                </a:solidFill>
              </a:rPr>
              <a:t>핵심 피처 손실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401568" y="4169664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tech_encoded·node_x_cd 제거 필요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→ 노드 상호작용 정보 단절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089904" y="3712464"/>
            <a:ext cx="269748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99632" y="3785616"/>
            <a:ext cx="347472" cy="3474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8" name="Text 26"/>
          <p:cNvSpPr/>
          <p:nvPr/>
        </p:nvSpPr>
        <p:spPr>
          <a:xfrm>
            <a:off x="6199632" y="37856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③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620256" y="3785616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2B3A"/>
                </a:solidFill>
              </a:rPr>
              <a:t>Cross-node 패턴 학습 불가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254496" y="4169664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통합 모델이 공유하는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공정 물리 법칙 정보 소실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09728"/>
            <a:ext cx="1645920" cy="274320"/>
          </a:xfrm>
          <a:prstGeom prst="rect">
            <a:avLst/>
          </a:prstGeom>
          <a:solidFill>
            <a:srgbClr val="C0392B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84048" y="1097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⚠ 시행착오 ③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148840" y="82296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이기종 앙상블 = 다양성 향상? — 잘못된 전제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148840" y="566928"/>
            <a:ext cx="6583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논리 오류: 알고리즘 다양성 ≠ 예측 다양성. 공통 편향이 앙상블 효과 제한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84048" y="896112"/>
          <a:ext cx="502920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577840" y="896112"/>
            <a:ext cx="3218688" cy="1417320"/>
          </a:xfrm>
          <a:prstGeom prst="rect">
            <a:avLst/>
          </a:prstGeom>
          <a:solidFill>
            <a:srgbClr val="FFF2F2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577840" y="896112"/>
            <a:ext cx="3218688" cy="2926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6"/>
          <p:cNvSpPr/>
          <p:nvPr/>
        </p:nvSpPr>
        <p:spPr>
          <a:xfrm>
            <a:off x="5669280" y="896112"/>
            <a:ext cx="3035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실패 원인 — 공통 편향(Shared Bias)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669280" y="1225296"/>
            <a:ext cx="3035808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GBM·SVR·RF 모두 동일 피처셋 X 학습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→ 14/22/28nm 저수율 구간에서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  유사한 과소추정 편향을 공유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→ 알고리즘이 달라도 Diversity 없음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577840" y="2423160"/>
            <a:ext cx="3218688" cy="1325880"/>
          </a:xfrm>
          <a:prstGeom prst="rect">
            <a:avLst/>
          </a:prstGeom>
          <a:solidFill>
            <a:srgbClr val="F0FFF5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577840" y="2423160"/>
            <a:ext cx="3218688" cy="292608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13" name="Text 10"/>
          <p:cNvSpPr/>
          <p:nvPr/>
        </p:nvSpPr>
        <p:spPr>
          <a:xfrm>
            <a:off x="5669280" y="2423160"/>
            <a:ext cx="3035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§9-2 A에서 발견한 해결책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669280" y="2761488"/>
            <a:ext cx="3035808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Expert 가중치 샘플링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→ High Expert(7/10nm ×5) +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  Low Expert(14~28nm ×5) +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  Generalist → Ridge 결합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→ R²=0.6760 (+0.0005) 달성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84048" y="3794760"/>
            <a:ext cx="8412480" cy="621792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6" name="Text 13"/>
          <p:cNvSpPr/>
          <p:nvPr/>
        </p:nvSpPr>
        <p:spPr>
          <a:xfrm>
            <a:off x="530352" y="38221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  핵심 교훈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30352" y="407822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</a:rPr>
              <a:t>앙상블 효과는 모델 간 '오류 패턴의 독립성'에서 발생한다. 동일 데이터를 학습하면 알고리즘이 달라도 공통 편향을 공유한다.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</a:rPr>
              <a:t>데이터 관점 차별화(가중치 샘플링)가 Diversity의 진정한 원천임을 실험으로 증명.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09728"/>
            <a:ext cx="1645920" cy="274320"/>
          </a:xfrm>
          <a:prstGeom prst="rect">
            <a:avLst/>
          </a:prstGeom>
          <a:solidFill>
            <a:srgbClr val="C0392B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84048" y="1097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⚠ 시행착오 ④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148840" y="82296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잔차 보정 모델 — 3회 반복 실험에서 동일하게 실패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148840" y="566928"/>
            <a:ext cx="6583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논리 오류: 잔차에 학습 가능한 구조적 패턴이 없다는 전제 미검증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84048" y="841248"/>
            <a:ext cx="269748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841248"/>
            <a:ext cx="2697480" cy="292608"/>
          </a:xfrm>
          <a:prstGeom prst="rect">
            <a:avLst/>
          </a:prstGeom>
          <a:solidFill>
            <a:srgbClr val="2A5C8A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841248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3776" y="1188720"/>
            <a:ext cx="24871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</a:rPr>
              <a:t>통합 GBM OOF 예측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" y="1536192"/>
            <a:ext cx="24871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A5C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 = y − GBM_oof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27248" y="1298448"/>
            <a:ext cx="100584" cy="109728"/>
          </a:xfrm>
          <a:prstGeom prst="rect">
            <a:avLst/>
          </a:prstGeom>
          <a:solidFill>
            <a:srgbClr val="AABCCC"/>
          </a:solidFill>
          <a:ln/>
        </p:spPr>
      </p:sp>
      <p:sp>
        <p:nvSpPr>
          <p:cNvPr id="12" name="Shape 10"/>
          <p:cNvSpPr/>
          <p:nvPr/>
        </p:nvSpPr>
        <p:spPr>
          <a:xfrm>
            <a:off x="3236976" y="841248"/>
            <a:ext cx="269748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36976" y="841248"/>
            <a:ext cx="2697480" cy="292608"/>
          </a:xfrm>
          <a:prstGeom prst="rect">
            <a:avLst/>
          </a:prstGeom>
          <a:solidFill>
            <a:srgbClr val="2A5C8A"/>
          </a:solidFill>
          <a:ln/>
        </p:spPr>
      </p:sp>
      <p:sp>
        <p:nvSpPr>
          <p:cNvPr id="14" name="Text 12"/>
          <p:cNvSpPr/>
          <p:nvPr/>
        </p:nvSpPr>
        <p:spPr>
          <a:xfrm>
            <a:off x="3328416" y="841248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46704" y="1188720"/>
            <a:ext cx="24871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</a:rPr>
              <a:t>SVR/Ridge가 잔차 학습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46704" y="1536192"/>
            <a:ext cx="24871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A5C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res_pred = Model(X, res)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80176" y="1298448"/>
            <a:ext cx="100584" cy="109728"/>
          </a:xfrm>
          <a:prstGeom prst="rect">
            <a:avLst/>
          </a:prstGeom>
          <a:solidFill>
            <a:srgbClr val="AABCCC"/>
          </a:solidFill>
          <a:ln/>
        </p:spPr>
      </p:sp>
      <p:sp>
        <p:nvSpPr>
          <p:cNvPr id="18" name="Shape 16"/>
          <p:cNvSpPr/>
          <p:nvPr/>
        </p:nvSpPr>
        <p:spPr>
          <a:xfrm>
            <a:off x="6089904" y="841248"/>
            <a:ext cx="269748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9904" y="841248"/>
            <a:ext cx="2697480" cy="292608"/>
          </a:xfrm>
          <a:prstGeom prst="rect">
            <a:avLst/>
          </a:prstGeom>
          <a:solidFill>
            <a:srgbClr val="2A5C8A"/>
          </a:solidFill>
          <a:ln/>
        </p:spPr>
      </p:sp>
      <p:sp>
        <p:nvSpPr>
          <p:cNvPr id="20" name="Text 18"/>
          <p:cNvSpPr/>
          <p:nvPr/>
        </p:nvSpPr>
        <p:spPr>
          <a:xfrm>
            <a:off x="6181344" y="841248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99632" y="1188720"/>
            <a:ext cx="24871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</a:rPr>
              <a:t>최종 = GBM + 잔차 예측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1536192"/>
            <a:ext cx="24871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A5C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= GBM_oof + res_pred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4048" y="213969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392B"/>
                </a:solidFill>
              </a:rPr>
              <a:t>3회 실험 모두 동일하게 실패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84048" y="2487168"/>
            <a:ext cx="2697480" cy="1325880"/>
          </a:xfrm>
          <a:prstGeom prst="rect">
            <a:avLst/>
          </a:prstGeom>
          <a:solidFill>
            <a:srgbClr val="FFF2F2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3776" y="2542032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392B"/>
                </a:solidFill>
              </a:rPr>
              <a:t>§9-2 B  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93776" y="2852928"/>
            <a:ext cx="2487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</a:rPr>
              <a:t>SVR 잔차 R²=−0.798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</a:rPr>
              <a:t>역방향 과적합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36976" y="2487168"/>
            <a:ext cx="2697480" cy="1325880"/>
          </a:xfrm>
          <a:prstGeom prst="rect">
            <a:avLst/>
          </a:prstGeom>
          <a:solidFill>
            <a:srgbClr val="FFF2F2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346704" y="2542032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392B"/>
                </a:solidFill>
              </a:rPr>
              <a:t>§9-3 B  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346704" y="2852928"/>
            <a:ext cx="2487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</a:rPr>
              <a:t>Ridge 잔차 보정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</a:rPr>
              <a:t>22nm: −0.1234 대폭 악화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89904" y="2487168"/>
            <a:ext cx="2697480" cy="1325880"/>
          </a:xfrm>
          <a:prstGeom prst="rect">
            <a:avLst/>
          </a:prstGeom>
          <a:solidFill>
            <a:srgbClr val="FFF2F2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199632" y="2542032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392B"/>
                </a:solidFill>
              </a:rPr>
              <a:t>§9-1 B  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199632" y="2852928"/>
            <a:ext cx="2487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</a:rPr>
              <a:t>계층 모델 L2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</a:rPr>
              <a:t>전체 R²=0.6512 (−0.024)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84048" y="3913632"/>
            <a:ext cx="8412480" cy="82296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4" name="Text 32"/>
          <p:cNvSpPr/>
          <p:nvPr/>
        </p:nvSpPr>
        <p:spPr>
          <a:xfrm>
            <a:off x="530352" y="39502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  근본 원인 — 잔차 보정의 전제 조건 미충족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30352" y="4206240"/>
            <a:ext cx="8229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GBM이 대부분의 구조적 분산을 포착한 후 남은 잔차는 σ≈0.10의 랜덤 노이즈 수준.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잔차 보정은 '잔차에 학습 가능한 비선형·구조적 패턴'이 있어야 효과적 — 현재 데이터에서는 미충족.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09728"/>
            <a:ext cx="1645920" cy="274320"/>
          </a:xfrm>
          <a:prstGeom prst="rect">
            <a:avLst/>
          </a:prstGeom>
          <a:solidFill>
            <a:srgbClr val="D4680A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84048" y="1097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Phase 3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148840" y="82296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고급 앙상블 — Stacking vs Voting vs 단독 GBM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84048" y="841248"/>
          <a:ext cx="841248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384048" y="4133088"/>
            <a:ext cx="201168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84048" y="4133088"/>
            <a:ext cx="2011680" cy="274320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133088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  GBM 단독 선정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75488" y="4443984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</a:rPr>
              <a:t>Stacking과 동률 R²=0.6755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532888" y="4133088"/>
            <a:ext cx="201168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532888" y="4133088"/>
            <a:ext cx="2011680" cy="274320"/>
          </a:xfrm>
          <a:prstGeom prst="rect">
            <a:avLst/>
          </a:prstGeom>
          <a:solidFill>
            <a:srgbClr val="2A5C8A"/>
          </a:solidFill>
          <a:ln/>
        </p:spPr>
      </p:sp>
      <p:sp>
        <p:nvSpPr>
          <p:cNvPr id="12" name="Text 9"/>
          <p:cNvSpPr/>
          <p:nvPr/>
        </p:nvSpPr>
        <p:spPr>
          <a:xfrm>
            <a:off x="2606040" y="4133088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⚡  단순성 우선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624328" y="4443984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</a:rPr>
              <a:t>복잡도↓ 해석가능성↑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681728" y="4133088"/>
            <a:ext cx="201168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81728" y="4133088"/>
            <a:ext cx="2011680" cy="274320"/>
          </a:xfrm>
          <a:prstGeom prst="rect">
            <a:avLst/>
          </a:prstGeom>
          <a:solidFill>
            <a:srgbClr val="D4680A"/>
          </a:solidFill>
          <a:ln/>
        </p:spPr>
      </p:sp>
      <p:sp>
        <p:nvSpPr>
          <p:cNvPr id="16" name="Text 13"/>
          <p:cNvSpPr/>
          <p:nvPr/>
        </p:nvSpPr>
        <p:spPr>
          <a:xfrm>
            <a:off x="4754880" y="4133088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  best_params 저장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773168" y="4443984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</a:rPr>
              <a:t>6개 파라미터 완전 재현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830568" y="4133088"/>
            <a:ext cx="201168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830568" y="4133088"/>
            <a:ext cx="2011680" cy="274320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20" name="Text 17"/>
          <p:cNvSpPr/>
          <p:nvPr/>
        </p:nvSpPr>
        <p:spPr>
          <a:xfrm>
            <a:off x="6903720" y="4133088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  노드별 진단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922008" y="4443984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</a:rPr>
              <a:t>22nm R²=0.47 한계 확인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457200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0" b="1" dirty="0">
                <a:solidFill>
                  <a:srgbClr val="16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0" dirty="0"/>
          </a:p>
        </p:txBody>
      </p:sp>
      <p:sp>
        <p:nvSpPr>
          <p:cNvPr id="3" name="Shape 1"/>
          <p:cNvSpPr/>
          <p:nvPr/>
        </p:nvSpPr>
        <p:spPr>
          <a:xfrm>
            <a:off x="0" y="2331720"/>
            <a:ext cx="9144000" cy="9875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377440"/>
            <a:ext cx="81381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유의인자 분석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3401568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8DCF5"/>
                </a:solidFill>
              </a:rPr>
              <a:t>5-Method Voting Ensemble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09728"/>
            <a:ext cx="1645920" cy="274320"/>
          </a:xfrm>
          <a:prstGeom prst="rect">
            <a:avLst/>
          </a:prstGeom>
          <a:solidFill>
            <a:srgbClr val="1A7A4A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84048" y="1097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XAI 설계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148840" y="82296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5-Method Voting — 각 방법의 역할·장단점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84048" y="841248"/>
            <a:ext cx="8412480" cy="74980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6" name="Shape 4"/>
          <p:cNvSpPr/>
          <p:nvPr/>
        </p:nvSpPr>
        <p:spPr>
          <a:xfrm>
            <a:off x="384048" y="841248"/>
            <a:ext cx="91440" cy="7498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8961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GB Built-in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126187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0392B"/>
                </a:solidFill>
              </a:rPr>
              <a:t>Model-based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578608" y="896112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장점:  빠름, 분기 정보이득 합산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578608" y="1243584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0B0"/>
                </a:solidFill>
              </a:rPr>
              <a:t>한계:  연속형 피처·카디널리티 편향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742432" y="932688"/>
            <a:ext cx="2999232" cy="566928"/>
          </a:xfrm>
          <a:prstGeom prst="rect">
            <a:avLst/>
          </a:prstGeom>
          <a:solidFill>
            <a:srgbClr val="C0392B">
              <a:alpha val="1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806440" y="969264"/>
            <a:ext cx="2880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0392B"/>
                </a:solidFill>
              </a:rPr>
              <a:t>단일 방법 편향을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0392B"/>
                </a:solidFill>
              </a:rPr>
              <a:t>5-Voting으로 상쇄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84048" y="1664208"/>
            <a:ext cx="8412480" cy="74980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4" name="Shape 12"/>
          <p:cNvSpPr/>
          <p:nvPr/>
        </p:nvSpPr>
        <p:spPr>
          <a:xfrm>
            <a:off x="384048" y="1664208"/>
            <a:ext cx="91440" cy="74980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171907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 Importance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208483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67E22"/>
                </a:solidFill>
              </a:rPr>
              <a:t>Model-based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78608" y="1719072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장점:  다양한 트리로 안정적 추정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578608" y="2066544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0B0"/>
                </a:solidFill>
              </a:rPr>
              <a:t>한계:  상관 피처 중요도 분산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742432" y="1755648"/>
            <a:ext cx="2999232" cy="566928"/>
          </a:xfrm>
          <a:prstGeom prst="rect">
            <a:avLst/>
          </a:prstGeom>
          <a:solidFill>
            <a:srgbClr val="E67E22">
              <a:alpha val="12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806440" y="1792224"/>
            <a:ext cx="2880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67E22"/>
                </a:solidFill>
              </a:rPr>
              <a:t>단일 방법 편향을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67E22"/>
                </a:solidFill>
              </a:rPr>
              <a:t>5-Voting으로 상쇄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84048" y="2487168"/>
            <a:ext cx="8412480" cy="74980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2" name="Shape 20"/>
          <p:cNvSpPr/>
          <p:nvPr/>
        </p:nvSpPr>
        <p:spPr>
          <a:xfrm>
            <a:off x="384048" y="2487168"/>
            <a:ext cx="91440" cy="74980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254203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 Importance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290779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39C12"/>
                </a:solidFill>
              </a:rPr>
              <a:t>Model-based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578608" y="2542032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장점:  완전 랜덤 분기, 노이즈 강건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578608" y="2889504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0B0"/>
                </a:solidFill>
              </a:rPr>
              <a:t>한계:  개별 성능 낮아 보완 목적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742432" y="2578608"/>
            <a:ext cx="2999232" cy="566928"/>
          </a:xfrm>
          <a:prstGeom prst="rect">
            <a:avLst/>
          </a:prstGeom>
          <a:solidFill>
            <a:srgbClr val="F39C12">
              <a:alpha val="12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5806440" y="2615184"/>
            <a:ext cx="2880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39C12"/>
                </a:solidFill>
              </a:rPr>
              <a:t>단일 방법 편향을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39C12"/>
                </a:solidFill>
              </a:rPr>
              <a:t>5-Voting으로 상쇄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84048" y="3310128"/>
            <a:ext cx="8412480" cy="74980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0" name="Shape 28"/>
          <p:cNvSpPr/>
          <p:nvPr/>
        </p:nvSpPr>
        <p:spPr>
          <a:xfrm>
            <a:off x="384048" y="3310128"/>
            <a:ext cx="91440" cy="749808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33649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Permutation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48640" y="373075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7A4A"/>
                </a:solidFill>
              </a:rPr>
              <a:t>Model-agnostic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578608" y="3364992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장점:  실제 예측 기여 직접 측정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578608" y="3712464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0B0"/>
                </a:solidFill>
              </a:rPr>
              <a:t>한계:  상관 피처 시 중요도 분산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742432" y="3401568"/>
            <a:ext cx="2999232" cy="566928"/>
          </a:xfrm>
          <a:prstGeom prst="rect">
            <a:avLst/>
          </a:prstGeom>
          <a:solidFill>
            <a:srgbClr val="1A7A4A">
              <a:alpha val="12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5806440" y="3438144"/>
            <a:ext cx="2880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7A4A"/>
                </a:solidFill>
              </a:rPr>
              <a:t>단일 방법 편향을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A7A4A"/>
                </a:solidFill>
              </a:rPr>
              <a:t>5-Voting으로 상쇄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84048" y="4133088"/>
            <a:ext cx="8412480" cy="74980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8" name="Shape 36"/>
          <p:cNvSpPr/>
          <p:nvPr/>
        </p:nvSpPr>
        <p:spPr>
          <a:xfrm>
            <a:off x="384048" y="4133088"/>
            <a:ext cx="91440" cy="749808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418795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Pearson |r|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48640" y="455371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980B9"/>
                </a:solidFill>
              </a:rPr>
              <a:t>Statistical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578608" y="4187952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장점:  선형 관계 직관적 해석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2578608" y="4535424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0B0"/>
                </a:solidFill>
              </a:rPr>
              <a:t>한계:  비선형 관계 포착 불가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742432" y="4224528"/>
            <a:ext cx="2999232" cy="566928"/>
          </a:xfrm>
          <a:prstGeom prst="rect">
            <a:avLst/>
          </a:prstGeom>
          <a:solidFill>
            <a:srgbClr val="2980B9">
              <a:alpha val="12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5806440" y="4261104"/>
            <a:ext cx="2880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980B9"/>
                </a:solidFill>
              </a:rPr>
              <a:t>단일 방법 편향을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2980B9"/>
                </a:solidFill>
              </a:rPr>
              <a:t>5-Voting으로 상쇄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84048" y="4974336"/>
            <a:ext cx="8412480" cy="16459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6" name="Text 44"/>
          <p:cNvSpPr/>
          <p:nvPr/>
        </p:nvSpPr>
        <p:spPr>
          <a:xfrm>
            <a:off x="384048" y="49743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Ensemble Score = (GB_norm + RF_norm + ET_norm + Permutation_norm + Pearson_norm)  ÷  5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09728"/>
            <a:ext cx="1645920" cy="274320"/>
          </a:xfrm>
          <a:prstGeom prst="rect">
            <a:avLst/>
          </a:prstGeom>
          <a:solidFill>
            <a:srgbClr val="1A7A4A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84048" y="1097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XAI 결과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148840" y="82296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5-Method Voting — 유의인자 Top 10 순위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84048" y="804672"/>
          <a:ext cx="53035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833872" y="804672"/>
            <a:ext cx="2962656" cy="97840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833872" y="804672"/>
            <a:ext cx="438912" cy="978408"/>
          </a:xfrm>
          <a:prstGeom prst="rect">
            <a:avLst/>
          </a:prstGeom>
          <a:solidFill>
            <a:srgbClr val="2A5C8A"/>
          </a:solidFill>
          <a:ln/>
        </p:spPr>
      </p:sp>
      <p:sp>
        <p:nvSpPr>
          <p:cNvPr id="8" name="Text 5"/>
          <p:cNvSpPr/>
          <p:nvPr/>
        </p:nvSpPr>
        <p:spPr>
          <a:xfrm>
            <a:off x="5833872" y="804672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#1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327648" y="84124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critical_dimension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327648" y="1097280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392B"/>
                </a:solidFill>
              </a:rPr>
              <a:t>Score: 0.8085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327648" y="1316736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0B0"/>
                </a:solidFill>
              </a:rPr>
              <a:t>전체 5개 방법에서 압도적 1위. 선폭 = 공정·전기 특성의 핵심 결정자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833872" y="1856232"/>
            <a:ext cx="2962656" cy="97840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833872" y="1856232"/>
            <a:ext cx="438912" cy="978408"/>
          </a:xfrm>
          <a:prstGeom prst="rect">
            <a:avLst/>
          </a:prstGeom>
          <a:solidFill>
            <a:srgbClr val="2A5C8A"/>
          </a:solidFill>
          <a:ln/>
        </p:spPr>
      </p:sp>
      <p:sp>
        <p:nvSpPr>
          <p:cNvPr id="14" name="Text 11"/>
          <p:cNvSpPr/>
          <p:nvPr/>
        </p:nvSpPr>
        <p:spPr>
          <a:xfrm>
            <a:off x="5833872" y="1856232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#2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327648" y="189280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is_advanced_node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327648" y="2148840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392B"/>
                </a:solidFill>
              </a:rPr>
              <a:t>Score: 0.4362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327648" y="2368296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0B0"/>
                </a:solidFill>
              </a:rPr>
              <a:t>EDA 이분화 분석으로 설계한 파생 변수. 구조적 차이 명시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833872" y="2907792"/>
            <a:ext cx="2962656" cy="97840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833872" y="2907792"/>
            <a:ext cx="438912" cy="978408"/>
          </a:xfrm>
          <a:prstGeom prst="rect">
            <a:avLst/>
          </a:prstGeom>
          <a:solidFill>
            <a:srgbClr val="2A5C8A"/>
          </a:solidFill>
          <a:ln/>
        </p:spPr>
      </p:sp>
      <p:sp>
        <p:nvSpPr>
          <p:cNvPr id="20" name="Text 17"/>
          <p:cNvSpPr/>
          <p:nvPr/>
        </p:nvSpPr>
        <p:spPr>
          <a:xfrm>
            <a:off x="5833872" y="2907792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#3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327648" y="294436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vth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327648" y="3200400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392B"/>
                </a:solidFill>
              </a:rPr>
              <a:t>Score: 0.2954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327648" y="3419856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0B0"/>
                </a:solidFill>
              </a:rPr>
              <a:t>임계 전압 — 게이트 제어 능력과 직결, 전기적 수율 대리 변수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833872" y="3959352"/>
            <a:ext cx="2962656" cy="97840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833872" y="3959352"/>
            <a:ext cx="438912" cy="978408"/>
          </a:xfrm>
          <a:prstGeom prst="rect">
            <a:avLst/>
          </a:prstGeom>
          <a:solidFill>
            <a:srgbClr val="2A5C8A"/>
          </a:solidFill>
          <a:ln/>
        </p:spPr>
      </p:sp>
      <p:sp>
        <p:nvSpPr>
          <p:cNvPr id="26" name="Text 23"/>
          <p:cNvSpPr/>
          <p:nvPr/>
        </p:nvSpPr>
        <p:spPr>
          <a:xfrm>
            <a:off x="5833872" y="3959352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#4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327648" y="399592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cd_vth_product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327648" y="4251960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392B"/>
                </a:solidFill>
              </a:rPr>
              <a:t>Score: 0.2116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6327648" y="4471416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0B0"/>
                </a:solidFill>
              </a:rPr>
              <a:t>EDA 기반 설계 파생 변수 (CD×Vth) — Top5 진입으로 교호작용 확인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457200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0" b="1" dirty="0">
                <a:solidFill>
                  <a:srgbClr val="16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0" dirty="0"/>
          </a:p>
        </p:txBody>
      </p:sp>
      <p:sp>
        <p:nvSpPr>
          <p:cNvPr id="3" name="Shape 1"/>
          <p:cNvSpPr/>
          <p:nvPr/>
        </p:nvSpPr>
        <p:spPr>
          <a:xfrm>
            <a:off x="0" y="2331720"/>
            <a:ext cx="9144000" cy="9875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377440"/>
            <a:ext cx="81381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UI/UX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3401568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8DCF5"/>
                </a:solidFill>
              </a:rPr>
              <a:t>Interactive Dashboard — 9 Tabs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09728"/>
            <a:ext cx="1645920" cy="274320"/>
          </a:xfrm>
          <a:prstGeom prst="rect">
            <a:avLst/>
          </a:prstGeom>
          <a:solidFill>
            <a:srgbClr val="6C3483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84048" y="1097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UI/UX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148840" y="82296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9탭 인터랙티브 대시보드 구성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2788920" cy="129844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804672"/>
            <a:ext cx="2788920" cy="32918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04672"/>
            <a:ext cx="2633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    EDA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118872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</a:rPr>
              <a:t>수율 분포 Violin · 이분화 t-test · 상관 행렬 · 피처셋 R² 비교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10128" y="804672"/>
            <a:ext cx="2788920" cy="129844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10128" y="804672"/>
            <a:ext cx="2788920" cy="32918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804672"/>
            <a:ext cx="2633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    피처 선택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01568" y="118872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</a:rPr>
              <a:t>FS A/B/C/D 단계별 비교 · EDA 반영 효과 정량화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36208" y="804672"/>
            <a:ext cx="2788920" cy="129844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36208" y="804672"/>
            <a:ext cx="2788920" cy="32918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804672"/>
            <a:ext cx="2633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    모델 성능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27648" y="118872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</a:rPr>
              <a:t>Phase 추이 · 23개 모델 비교 · 하이퍼파라미터 설계 근거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84048" y="2231136"/>
            <a:ext cx="2788920" cy="129844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4048" y="2231136"/>
            <a:ext cx="2788920" cy="32918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231136"/>
            <a:ext cx="2633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    XAI 유의인자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" y="2615184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</a:rPr>
              <a:t>5-Method Voting 히트맵 · Top10 순위 · 노드별 중요도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10128" y="2231136"/>
            <a:ext cx="2788920" cy="129844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10128" y="2231136"/>
            <a:ext cx="2788920" cy="32918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3" name="Text 21"/>
          <p:cNvSpPr/>
          <p:nvPr/>
        </p:nvSpPr>
        <p:spPr>
          <a:xfrm>
            <a:off x="3383280" y="2231136"/>
            <a:ext cx="2633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    예측 &amp; 시뮬레이션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01568" y="2615184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</a:rPr>
              <a:t>슬라이더 실시간 예측 · CSV 일괄 예측 · ±20% 민감도 분석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36208" y="2231136"/>
            <a:ext cx="2788920" cy="129844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36208" y="2231136"/>
            <a:ext cx="2788920" cy="32918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7" name="Text 25"/>
          <p:cNvSpPr/>
          <p:nvPr/>
        </p:nvSpPr>
        <p:spPr>
          <a:xfrm>
            <a:off x="6309360" y="2231136"/>
            <a:ext cx="2633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    §8 개선 실험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27648" y="2615184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</a:rPr>
              <a:t>의사결정 흐름 4단계 · Expander · 버튼 재현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84048" y="3657600"/>
            <a:ext cx="2788920" cy="129844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84048" y="3657600"/>
            <a:ext cx="2788920" cy="32918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3657600"/>
            <a:ext cx="2633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    §9-1 후속 실험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5488" y="4041648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</a:rPr>
              <a:t>전이학습 · 계층 모델 · 노드별 정규화 — 버튼 재현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310128" y="3657600"/>
            <a:ext cx="2788920" cy="129844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310128" y="3657600"/>
            <a:ext cx="2788920" cy="32918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5" name="Text 33"/>
          <p:cNvSpPr/>
          <p:nvPr/>
        </p:nvSpPr>
        <p:spPr>
          <a:xfrm>
            <a:off x="3383280" y="3657600"/>
            <a:ext cx="2633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8  ⚗  §9-2 후속 실험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401568" y="4041648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</a:rPr>
              <a:t>Expert Stacking 슬라이더 · 잔차 보정 · FS 분리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236208" y="3657600"/>
            <a:ext cx="2788920" cy="129844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236208" y="3657600"/>
            <a:ext cx="2788920" cy="32918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9" name="Text 37"/>
          <p:cNvSpPr/>
          <p:nvPr/>
        </p:nvSpPr>
        <p:spPr>
          <a:xfrm>
            <a:off x="6309360" y="3657600"/>
            <a:ext cx="2633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9    §9-3 후속 실험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327648" y="4041648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</a:rPr>
              <a:t>IQR 가중치 슬라이더 · 잔차 보정 · A+C 결합 실험 버튼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09728"/>
            <a:ext cx="1645920" cy="274320"/>
          </a:xfrm>
          <a:prstGeom prst="rect">
            <a:avLst/>
          </a:prstGeom>
          <a:solidFill>
            <a:srgbClr val="6C3483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84048" y="1097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탭 5 — 시뮬레이션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148840" y="82296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예측 · CSV 일괄 처리 · ±20% 민감도 분석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84048" y="841248"/>
            <a:ext cx="2788920" cy="342900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841248"/>
            <a:ext cx="2788920" cy="347472"/>
          </a:xfrm>
          <a:prstGeom prst="rect">
            <a:avLst/>
          </a:prstGeom>
          <a:solidFill>
            <a:srgbClr val="2A5C8A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841248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  실시간 시뮬레이션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3776" y="1243584"/>
            <a:ext cx="2578608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3A"/>
                </a:solidFill>
              </a:rPr>
              <a:t>• Technology Node 드롭다운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C2B3A"/>
                </a:solidFill>
              </a:rPr>
              <a:t>• 공정 18개 파라미터 슬라이더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C2B3A"/>
                </a:solidFill>
              </a:rPr>
              <a:t>• 예측 수율 즉시 업데이트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C2B3A"/>
                </a:solidFill>
              </a:rPr>
              <a:t>• Gauge 바 + 노드 평균 대비 편차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10128" y="841248"/>
            <a:ext cx="2788920" cy="342900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10128" y="841248"/>
            <a:ext cx="2788920" cy="347472"/>
          </a:xfrm>
          <a:prstGeom prst="rect">
            <a:avLst/>
          </a:prstGeom>
          <a:solidFill>
            <a:srgbClr val="2A5C8A"/>
          </a:solidFill>
          <a:ln/>
        </p:spPr>
      </p:sp>
      <p:sp>
        <p:nvSpPr>
          <p:cNvPr id="11" name="Text 9"/>
          <p:cNvSpPr/>
          <p:nvPr/>
        </p:nvSpPr>
        <p:spPr>
          <a:xfrm>
            <a:off x="3401568" y="841248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  CSV 일괄 예측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19856" y="1243584"/>
            <a:ext cx="2578608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3A"/>
                </a:solidFill>
              </a:rPr>
              <a:t>• 공정 데이터 CSV 업로드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C2B3A"/>
                </a:solidFill>
              </a:rPr>
              <a:t>• 전체 Wafer 배치 예측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C2B3A"/>
                </a:solidFill>
              </a:rPr>
              <a:t>• 수율 등급 분류 시각화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C2B3A"/>
                </a:solidFill>
              </a:rPr>
              <a:t>• 결과 CSV 다운로드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36208" y="841248"/>
            <a:ext cx="2788920" cy="342900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36208" y="841248"/>
            <a:ext cx="2788920" cy="347472"/>
          </a:xfrm>
          <a:prstGeom prst="rect">
            <a:avLst/>
          </a:prstGeom>
          <a:solidFill>
            <a:srgbClr val="2A5C8A"/>
          </a:solidFill>
          <a:ln/>
        </p:spPr>
      </p:sp>
      <p:sp>
        <p:nvSpPr>
          <p:cNvPr id="15" name="Text 13"/>
          <p:cNvSpPr/>
          <p:nvPr/>
        </p:nvSpPr>
        <p:spPr>
          <a:xfrm>
            <a:off x="6327648" y="841248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  ±20% 민감도 분석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45936" y="1243584"/>
            <a:ext cx="2578608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3A"/>
                </a:solidFill>
              </a:rPr>
              <a:t>• 핵심 5개 피처 ±20% 범위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C2B3A"/>
                </a:solidFill>
              </a:rPr>
              <a:t>• 수율 변화 곡선 시각화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C2B3A"/>
                </a:solidFill>
              </a:rPr>
              <a:t>• 기울기 → 제어 우선순위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C2B3A"/>
                </a:solidFill>
              </a:rPr>
              <a:t>• 우수/보통/불량 기준선 표시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84048" y="4389120"/>
            <a:ext cx="8412480" cy="65836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442569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UI/UX 설계 원칙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30352" y="468172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모든 실험(§8·§9)은 Expander + 버튼으로 직접 재현 가능 → 분석을 블랙박스가 아닌 투명한 과정으로 전달.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st.session_state로 계산 결과 캐시 → 중복 연산 없이 슬라이더 조정마다 즉시 반응.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457200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0" b="1" dirty="0">
                <a:solidFill>
                  <a:srgbClr val="16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0" dirty="0"/>
          </a:p>
        </p:txBody>
      </p:sp>
      <p:sp>
        <p:nvSpPr>
          <p:cNvPr id="3" name="Shape 1"/>
          <p:cNvSpPr/>
          <p:nvPr/>
        </p:nvSpPr>
        <p:spPr>
          <a:xfrm>
            <a:off x="0" y="2331720"/>
            <a:ext cx="9144000" cy="9875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377440"/>
            <a:ext cx="81381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 실험 §8~§9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3401568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8DCF5"/>
                </a:solidFill>
              </a:rPr>
              <a:t>Iterative Decision-Making Experiments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09728"/>
            <a:ext cx="1645920" cy="274320"/>
          </a:xfrm>
          <a:prstGeom prst="rect">
            <a:avLst/>
          </a:prstGeom>
          <a:solidFill>
            <a:srgbClr val="C0392B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84048" y="1097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§8 의사결정 흐름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148840" y="82296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§8 — 발견 → 가설 → 실험 → 판단의 4단계 흐름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84048" y="841248"/>
            <a:ext cx="8412480" cy="91440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6" name="Shape 4"/>
          <p:cNvSpPr/>
          <p:nvPr/>
        </p:nvSpPr>
        <p:spPr>
          <a:xfrm>
            <a:off x="384048" y="841248"/>
            <a:ext cx="384048" cy="914400"/>
          </a:xfrm>
          <a:prstGeom prst="rect">
            <a:avLst/>
          </a:prstGeom>
          <a:solidFill>
            <a:srgbClr val="2A5C8A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841248"/>
            <a:ext cx="384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①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41248" y="88696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A0B0"/>
                </a:solidFill>
              </a:rPr>
              <a:t>발견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41248" y="1097280"/>
            <a:ext cx="19933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22nm R²&lt;0.5 발견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907792" y="1170432"/>
            <a:ext cx="320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BA0B0"/>
                </a:solidFill>
              </a:rPr>
              <a:t>▶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73552" y="88696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A0B0"/>
                </a:solidFill>
              </a:rPr>
              <a:t>가설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273552" y="1097280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노드별 개별 모델 유리?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0" y="1170432"/>
            <a:ext cx="320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BA0B0"/>
                </a:solidFill>
              </a:rPr>
              <a:t>▶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52160" y="88696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A0B0"/>
                </a:solidFill>
              </a:rPr>
              <a:t>결과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852160" y="109728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7A4A"/>
                </a:solidFill>
              </a:rPr>
              <a:t>  전 노드 열등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852160" y="1463040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0B0"/>
                </a:solidFill>
              </a:rPr>
              <a:t>샘플 부족+노드 상호작용 정보 손실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84048" y="1847088"/>
            <a:ext cx="8412480" cy="91440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8" name="Shape 16"/>
          <p:cNvSpPr/>
          <p:nvPr/>
        </p:nvSpPr>
        <p:spPr>
          <a:xfrm>
            <a:off x="384048" y="1847088"/>
            <a:ext cx="384048" cy="914400"/>
          </a:xfrm>
          <a:prstGeom prst="rect">
            <a:avLst/>
          </a:prstGeom>
          <a:solidFill>
            <a:srgbClr val="2A5C8A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" y="1847088"/>
            <a:ext cx="384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②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41248" y="189280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A0B0"/>
                </a:solidFill>
              </a:rPr>
              <a:t>발견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41248" y="2103120"/>
            <a:ext cx="19933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동종 Stacking = GBM 동률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907792" y="2176272"/>
            <a:ext cx="320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BA0B0"/>
                </a:solidFill>
              </a:rPr>
              <a:t>▶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273552" y="189280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A0B0"/>
                </a:solidFill>
              </a:rPr>
              <a:t>가설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273552" y="2103120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이기종(GBM+SVR+RF) Diversity↑?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0" y="2176272"/>
            <a:ext cx="320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BA0B0"/>
                </a:solidFill>
              </a:rPr>
              <a:t>▶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852160" y="189280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A0B0"/>
                </a:solidFill>
              </a:rPr>
              <a:t>결과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852160" y="210312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7A4A"/>
                </a:solidFill>
              </a:rPr>
              <a:t>  R²=0.6741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852160" y="2468880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0B0"/>
                </a:solidFill>
              </a:rPr>
              <a:t>동일 피처셋 → 공통 편향 공유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84048" y="2852928"/>
            <a:ext cx="8412480" cy="91440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0" name="Shape 28"/>
          <p:cNvSpPr/>
          <p:nvPr/>
        </p:nvSpPr>
        <p:spPr>
          <a:xfrm>
            <a:off x="384048" y="2852928"/>
            <a:ext cx="384048" cy="914400"/>
          </a:xfrm>
          <a:prstGeom prst="rect">
            <a:avLst/>
          </a:prstGeom>
          <a:solidFill>
            <a:srgbClr val="2A5C8A"/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" y="2852928"/>
            <a:ext cx="384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③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841248" y="289864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A0B0"/>
                </a:solidFill>
              </a:rPr>
              <a:t>발견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41248" y="3108960"/>
            <a:ext cx="19933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R² 정체 — 피처 한계?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907792" y="3182112"/>
            <a:ext cx="320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BA0B0"/>
                </a:solidFill>
              </a:rPr>
              <a:t>▶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273552" y="289864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A0B0"/>
                </a:solidFill>
              </a:rPr>
              <a:t>가설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273552" y="3108960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FS-D 추가 파생 변수 효과?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486400" y="3182112"/>
            <a:ext cx="320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BA0B0"/>
                </a:solidFill>
              </a:rPr>
              <a:t>▶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852160" y="289864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A0B0"/>
                </a:solidFill>
              </a:rPr>
              <a:t>결과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852160" y="310896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7A4A"/>
                </a:solidFill>
              </a:rPr>
              <a:t>  diff=+0.0002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852160" y="3474720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0B0"/>
                </a:solidFill>
              </a:rPr>
              <a:t>GBM 내부적으로 비선형성 이미 포착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84048" y="3858768"/>
            <a:ext cx="8412480" cy="91440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42" name="Shape 40"/>
          <p:cNvSpPr/>
          <p:nvPr/>
        </p:nvSpPr>
        <p:spPr>
          <a:xfrm>
            <a:off x="384048" y="3858768"/>
            <a:ext cx="384048" cy="914400"/>
          </a:xfrm>
          <a:prstGeom prst="rect">
            <a:avLst/>
          </a:prstGeom>
          <a:solidFill>
            <a:srgbClr val="2A5C8A"/>
          </a:solidFill>
          <a:ln/>
        </p:spPr>
      </p:sp>
      <p:sp>
        <p:nvSpPr>
          <p:cNvPr id="43" name="Text 41"/>
          <p:cNvSpPr/>
          <p:nvPr/>
        </p:nvSpPr>
        <p:spPr>
          <a:xfrm>
            <a:off x="384048" y="3858768"/>
            <a:ext cx="384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④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841248" y="390448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A0B0"/>
                </a:solidFill>
              </a:rPr>
              <a:t>발견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41248" y="4114800"/>
            <a:ext cx="19933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커널 모델이 낮은 이유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2907792" y="4187952"/>
            <a:ext cx="320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BA0B0"/>
                </a:solidFill>
              </a:rPr>
              <a:t>▶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3273552" y="390448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A0B0"/>
                </a:solidFill>
              </a:rPr>
              <a:t>가설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273552" y="4114800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스케일링 문제? 구조 문제?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486400" y="4187952"/>
            <a:ext cx="320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BA0B0"/>
                </a:solidFill>
              </a:rPr>
              <a:t>▶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5852160" y="390448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A0B0"/>
                </a:solidFill>
              </a:rPr>
              <a:t>결과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852160" y="411480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7A4A"/>
                </a:solidFill>
              </a:rPr>
              <a:t>  이분화 구조 문제 규명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5852160" y="4480560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0B0"/>
                </a:solidFill>
              </a:rPr>
              <a:t>RBF 커널: 연속 유사도 가정 → 이분화에 불리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09728"/>
            <a:ext cx="1645920" cy="274320"/>
          </a:xfrm>
          <a:prstGeom prst="rect">
            <a:avLst/>
          </a:prstGeom>
          <a:solidFill>
            <a:srgbClr val="D4680A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84048" y="1097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§9 후속 실험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148840" y="82296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§9-1~3 후속 실험 9가지 — 결과 및 핵심 교훈</a:t>
            </a:r>
            <a:endParaRPr lang="en-US" sz="22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841248"/>
          <a:ext cx="8412480" cy="4041650"/>
        </p:xfrm>
        <a:graphic>
          <a:graphicData uri="http://schemas.openxmlformats.org/drawingml/2006/table">
            <a:tbl>
              <a:tblPr/>
              <a:tblGrid>
                <a:gridCol w="713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85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959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41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실험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접근법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R²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판단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핵심 교훈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1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B3A"/>
                          </a:solidFill>
                        </a:rPr>
                        <a:t>§9-1 A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B3A"/>
                          </a:solidFill>
                        </a:rPr>
                        <a:t>전이학습+Fine-tuning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B3A"/>
                          </a:solidFill>
                        </a:rPr>
                        <a:t>악화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B3A"/>
                          </a:solidFill>
                        </a:rPr>
                        <a:t>GBM warm_start≠가중치 보존. 소규모 과적합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1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B3A"/>
                          </a:solidFill>
                        </a:rPr>
                        <a:t>§9-1 B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B3A"/>
                          </a:solidFill>
                        </a:rPr>
                        <a:t>계층 모델(L1+L2 잔차)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B3A"/>
                          </a:solidFill>
                        </a:rPr>
                        <a:t>0.6512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B3A"/>
                          </a:solidFill>
                        </a:rPr>
                        <a:t>잔차 SNR 낮음 — 체계적 패턴 없이 노이즈 과적합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1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B3A"/>
                          </a:solidFill>
                        </a:rPr>
                        <a:t>§9-1 C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B3A"/>
                          </a:solidFill>
                        </a:rPr>
                        <a:t>노드별 그룹 정규화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B3A"/>
                          </a:solidFill>
                        </a:rPr>
                        <a:t>0.6281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B3A"/>
                          </a:solidFill>
                        </a:rPr>
                        <a:t>이분화 절대 수준 차이가 핵심 신호 — 정규화로 소실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41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B3A"/>
                          </a:solidFill>
                        </a:rPr>
                        <a:t>§9-2 A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B3A"/>
                          </a:solidFill>
                        </a:rPr>
                        <a:t>Expert 가중치 샘플링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B3A"/>
                          </a:solidFill>
                        </a:rPr>
                        <a:t>0.6760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B3A"/>
                          </a:solidFill>
                        </a:rPr>
                        <a:t>데이터 관점 차별화 성공. 개선폭 +0.0005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41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B3A"/>
                          </a:solidFill>
                        </a:rPr>
                        <a:t>§9-2 B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B3A"/>
                          </a:solidFill>
                        </a:rPr>
                        <a:t>잔차 보정 Stacking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B3A"/>
                          </a:solidFill>
                        </a:rPr>
                        <a:t>SVR R²=-0.798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B3A"/>
                          </a:solidFill>
                        </a:rPr>
                        <a:t>SVR 역방향 과적합. 잔차 구조 패턴 없음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41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B3A"/>
                          </a:solidFill>
                        </a:rPr>
                        <a:t>§9-2 C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B3A"/>
                          </a:solidFill>
                        </a:rPr>
                        <a:t>피처 서브스페이스 분리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B3A"/>
                          </a:solidFill>
                        </a:rPr>
                        <a:t>0.5785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B3A"/>
                          </a:solidFill>
                        </a:rPr>
                        <a:t>복합 상호작용 피처 분리 시 정보 손실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41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B3A"/>
                          </a:solidFill>
                        </a:rPr>
                        <a:t>§9-3 A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B3A"/>
                          </a:solidFill>
                        </a:rPr>
                        <a:t>IQR 타겟팅 샘플링(×1.5)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B3A"/>
                          </a:solidFill>
                        </a:rPr>
                        <a:t>0.6777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B3A"/>
                          </a:solidFill>
                        </a:rPr>
                        <a:t>낮은 배율이 핵심 — 배율↑시 오히려 R² 감소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41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B3A"/>
                          </a:solidFill>
                        </a:rPr>
                        <a:t>§9-3 B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B3A"/>
                          </a:solidFill>
                        </a:rPr>
                        <a:t>Ridge Error Corrector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B3A"/>
                          </a:solidFill>
                        </a:rPr>
                        <a:t>0.6678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B3A"/>
                          </a:solidFill>
                        </a:rPr>
                        <a:t>§9-1 B·§9-2 B와 동일 실패 패턴 재확인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41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B3A"/>
                          </a:solidFill>
                        </a:rPr>
                        <a:t>§9-3 C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B3A"/>
                          </a:solidFill>
                        </a:rPr>
                        <a:t>그룹 Expert 앙상블(α=0.5)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B3A"/>
                          </a:solidFill>
                        </a:rPr>
                        <a:t>0.6764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D4680A"/>
                          </a:solidFill>
                        </a:rPr>
                        <a:t>⚠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B3A"/>
                          </a:solidFill>
                        </a:rPr>
                        <a:t>14/28nm 부분 개선. 22nm는 n=125 한계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84048" y="491947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 채택 가능 2개  ⚠ 잠정 채택 1개   기각 6개  →  A+C 결합 전략이 권고 다음 단계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09728"/>
            <a:ext cx="1645920" cy="274320"/>
          </a:xfrm>
          <a:prstGeom prst="rect">
            <a:avLst/>
          </a:prstGeom>
          <a:solidFill>
            <a:srgbClr val="1A7A4A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84048" y="1097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핵심 인사이트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148840" y="82296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전반의 공통 발견 — 3대 핵심 인사이트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84048" y="841248"/>
            <a:ext cx="8412480" cy="131673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841248"/>
            <a:ext cx="512064" cy="131673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841248"/>
            <a:ext cx="5120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84048" y="1243584"/>
            <a:ext cx="5120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87552" y="877824"/>
            <a:ext cx="76992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A"/>
                </a:solidFill>
              </a:rPr>
              <a:t>이분화 구조 = 핵심 예측 신호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87552" y="1225296"/>
            <a:ext cx="769924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7/10nm(고수율) ↔ 14/22/28nm(저수율)의 절대 수준 차이가 GBM의 핵심 학습 신호.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노드별 정규화(§9-1 C) · 노드별 분리(§8-①)는 이 신호를 소실시켜 오히려 성능 하락.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역설: '분리 실패 실험'이 이분화 신호의 중요성을 정량 증명.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84048" y="2286000"/>
            <a:ext cx="8412480" cy="131673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84048" y="2286000"/>
            <a:ext cx="512064" cy="1316736"/>
          </a:xfrm>
          <a:prstGeom prst="rect">
            <a:avLst/>
          </a:prstGeom>
          <a:solidFill>
            <a:srgbClr val="D4680A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2286000"/>
            <a:ext cx="5120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84048" y="2688336"/>
            <a:ext cx="5120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87552" y="2322576"/>
            <a:ext cx="76992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A"/>
                </a:solidFill>
              </a:rPr>
              <a:t>잔차 보정의 근본 조건 미충족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87552" y="2670048"/>
            <a:ext cx="769924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§9-1 B · §9-2 B · §9-3 B — 3회 반복 모두 동일한 결론에 수렴.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GBM이 대부분의 구조적 분산을 포착한 후 잔차는 σ≈0.10의 랜덤 노이즈.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이 패턴을 3회 독립 실험으로 일반화하는 것 자체가 핵심 기여.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84048" y="3730752"/>
            <a:ext cx="8412480" cy="131673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4048" y="3730752"/>
            <a:ext cx="512064" cy="1316736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" y="3730752"/>
            <a:ext cx="5120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384048" y="4133088"/>
            <a:ext cx="5120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87552" y="3767328"/>
            <a:ext cx="76992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A"/>
                </a:solidFill>
              </a:rPr>
              <a:t>Diversity = 데이터 관점의 차별화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87552" y="4114800"/>
            <a:ext cx="769924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이기종 앙상블(§8-②)은 알고리즘만 달리해서는 Diversity 확보 불가.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Expert 가중치 샘플링(§9-2 A · §9-3 A)이 유일하게 성공 (+0.0005~+0.0022).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'어떤 모델'이 아닌 '어떤 데이터 관점으로 학습하느냐'가 앙상블 다양성의 원천.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457200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0" b="1" dirty="0">
                <a:solidFill>
                  <a:srgbClr val="16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0" dirty="0"/>
          </a:p>
        </p:txBody>
      </p:sp>
      <p:sp>
        <p:nvSpPr>
          <p:cNvPr id="3" name="Shape 1"/>
          <p:cNvSpPr/>
          <p:nvPr/>
        </p:nvSpPr>
        <p:spPr>
          <a:xfrm>
            <a:off x="0" y="2331720"/>
            <a:ext cx="9144000" cy="9875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377440"/>
            <a:ext cx="81381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 및 시사점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3401568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8DCF5"/>
                </a:solidFill>
              </a:rPr>
              <a:t>Conclusions &amp; Key Takeaways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09728"/>
            <a:ext cx="1645920" cy="274320"/>
          </a:xfrm>
          <a:prstGeom prst="rect">
            <a:avLst/>
          </a:prstGeom>
          <a:solidFill>
            <a:srgbClr val="C0392B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84048" y="1097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정량 결과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148840" y="82296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정량 성과 요약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2011680" cy="896112"/>
          </a:xfrm>
          <a:prstGeom prst="rect">
            <a:avLst/>
          </a:prstGeom>
          <a:solidFill>
            <a:srgbClr val="1E3A5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82296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8DCF5"/>
                </a:solidFill>
              </a:rPr>
              <a:t>0.6755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84048" y="13716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최종 5-CV R²  ·  GBM + FS-C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32888" y="804672"/>
            <a:ext cx="2011680" cy="896112"/>
          </a:xfrm>
          <a:prstGeom prst="rect">
            <a:avLst/>
          </a:prstGeom>
          <a:solidFill>
            <a:srgbClr val="1E3A5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32888" y="82296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8DCF5"/>
                </a:solidFill>
              </a:rPr>
              <a:t>0.0997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532888" y="13716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RMSE  ·  Phase2 Tuned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81728" y="804672"/>
            <a:ext cx="2011680" cy="896112"/>
          </a:xfrm>
          <a:prstGeom prst="rect">
            <a:avLst/>
          </a:prstGeom>
          <a:solidFill>
            <a:srgbClr val="1E3A5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81728" y="82296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8DCF5"/>
                </a:solidFill>
              </a:rPr>
              <a:t>23개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681728" y="13716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비교 모델  ·  HistGBM 대안 포함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30568" y="804672"/>
            <a:ext cx="2011680" cy="896112"/>
          </a:xfrm>
          <a:prstGeom prst="rect">
            <a:avLst/>
          </a:prstGeom>
          <a:solidFill>
            <a:srgbClr val="1E3A5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30568" y="82296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8DCF5"/>
                </a:solidFill>
              </a:rPr>
              <a:t>9회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830568" y="13716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개선 실험  ·  §8~§9 의사결정</a:t>
            </a:r>
            <a:endParaRPr lang="en-US" sz="9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384048" y="1828800"/>
          <a:ext cx="502920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Text 15"/>
          <p:cNvSpPr/>
          <p:nvPr/>
        </p:nvSpPr>
        <p:spPr>
          <a:xfrm>
            <a:off x="5577840" y="1874520"/>
            <a:ext cx="3218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2B3A"/>
                </a:solidFill>
              </a:rPr>
              <a:t>XAI Top 5 유의인자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577840" y="2212848"/>
            <a:ext cx="274320" cy="38404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0" name="Text 17"/>
          <p:cNvSpPr/>
          <p:nvPr/>
        </p:nvSpPr>
        <p:spPr>
          <a:xfrm>
            <a:off x="5577840" y="22128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#1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907024" y="224942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critical_dimension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907024" y="243230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0B0"/>
                </a:solidFill>
              </a:rPr>
              <a:t>0.8085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8229600" y="2322576"/>
            <a:ext cx="1367691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4" name="Shape 21"/>
          <p:cNvSpPr/>
          <p:nvPr/>
        </p:nvSpPr>
        <p:spPr>
          <a:xfrm>
            <a:off x="5577840" y="2715768"/>
            <a:ext cx="274320" cy="38404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5" name="Text 22"/>
          <p:cNvSpPr/>
          <p:nvPr/>
        </p:nvSpPr>
        <p:spPr>
          <a:xfrm>
            <a:off x="5577840" y="271576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#2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907024" y="27523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is_advanced_node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907024" y="293522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0B0"/>
                </a:solidFill>
              </a:rPr>
              <a:t>0.4362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8229600" y="2825496"/>
            <a:ext cx="737893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9" name="Shape 26"/>
          <p:cNvSpPr/>
          <p:nvPr/>
        </p:nvSpPr>
        <p:spPr>
          <a:xfrm>
            <a:off x="5577840" y="3218688"/>
            <a:ext cx="274320" cy="38404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0" name="Text 27"/>
          <p:cNvSpPr/>
          <p:nvPr/>
        </p:nvSpPr>
        <p:spPr>
          <a:xfrm>
            <a:off x="5577840" y="321868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#3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907024" y="325526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vth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907024" y="343814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0B0"/>
                </a:solidFill>
              </a:rPr>
              <a:t>0.2954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8229600" y="3328416"/>
            <a:ext cx="499710" cy="1828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4" name="Shape 31"/>
          <p:cNvSpPr/>
          <p:nvPr/>
        </p:nvSpPr>
        <p:spPr>
          <a:xfrm>
            <a:off x="5577840" y="3721608"/>
            <a:ext cx="274320" cy="38404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5" name="Text 32"/>
          <p:cNvSpPr/>
          <p:nvPr/>
        </p:nvSpPr>
        <p:spPr>
          <a:xfrm>
            <a:off x="5577840" y="372160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#4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5907024" y="375818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cd_vth_product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907024" y="394106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0B0"/>
                </a:solidFill>
              </a:rPr>
              <a:t>0.2116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8229600" y="3831336"/>
            <a:ext cx="357951" cy="18288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9" name="Shape 36"/>
          <p:cNvSpPr/>
          <p:nvPr/>
        </p:nvSpPr>
        <p:spPr>
          <a:xfrm>
            <a:off x="5577840" y="4224528"/>
            <a:ext cx="274320" cy="384048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40" name="Text 37"/>
          <p:cNvSpPr/>
          <p:nvPr/>
        </p:nvSpPr>
        <p:spPr>
          <a:xfrm>
            <a:off x="5577840" y="422452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#5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5907024" y="426110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oxide_thickness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5907024" y="444398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0B0"/>
                </a:solidFill>
              </a:rPr>
              <a:t>0.1723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8229600" y="4334256"/>
            <a:ext cx="291470" cy="182880"/>
          </a:xfrm>
          <a:prstGeom prst="rect">
            <a:avLst/>
          </a:prstGeom>
          <a:solidFill>
            <a:srgbClr val="2980B9"/>
          </a:solidFill>
          <a:ln/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09728"/>
            <a:ext cx="1645920" cy="274320"/>
          </a:xfrm>
          <a:prstGeom prst="rect">
            <a:avLst/>
          </a:prstGeom>
          <a:solidFill>
            <a:srgbClr val="C0392B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84048" y="1097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한계 분석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148840" y="82296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R²=0.6755의 한계 — 알고리즘이 아닌 데이터 규모 문제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84048" y="804672"/>
          <a:ext cx="502920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804672"/>
            <a:ext cx="3218688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577840" y="804672"/>
            <a:ext cx="3218688" cy="2926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0" y="804672"/>
            <a:ext cx="3035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22nm: 최소 샘플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669280" y="1133856"/>
            <a:ext cx="30358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</a:rPr>
              <a:t>n=125 → fold당 ~100개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</a:rPr>
              <a:t>9가지 실험 모두 개선 실패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577840" y="2039112"/>
            <a:ext cx="3218688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577840" y="2039112"/>
            <a:ext cx="3218688" cy="2926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Text 9"/>
          <p:cNvSpPr/>
          <p:nvPr/>
        </p:nvSpPr>
        <p:spPr>
          <a:xfrm>
            <a:off x="5669280" y="2039112"/>
            <a:ext cx="3035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이분화 구조 천장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669280" y="2368296"/>
            <a:ext cx="30358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</a:rPr>
              <a:t>클러스터 내부 분산이 작아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</a:rPr>
              <a:t>더 이상의 R² 개선이 어려움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577840" y="3273552"/>
            <a:ext cx="3218688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577840" y="3273552"/>
            <a:ext cx="3218688" cy="2926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3"/>
          <p:cNvSpPr/>
          <p:nvPr/>
        </p:nvSpPr>
        <p:spPr>
          <a:xfrm>
            <a:off x="5669280" y="3273552"/>
            <a:ext cx="3035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측정 노이즈 한계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669280" y="3602736"/>
            <a:ext cx="30358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</a:rPr>
              <a:t>잔차 σ≈0.10 = 측정 노이즈 수준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</a:rPr>
              <a:t>이론적 상한선 존재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84048" y="3794760"/>
            <a:ext cx="8412480" cy="56692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9" name="Text 16"/>
          <p:cNvSpPr/>
          <p:nvPr/>
        </p:nvSpPr>
        <p:spPr>
          <a:xfrm>
            <a:off x="502920" y="379476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근본 결론: 9회 개선 실험이 동일한 결론에 수렴 — 알고리즘·앙상블 구조가 아닌 22nm 데이터 추가 수집이 유일한 근본 해결책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84048" y="444398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A0B0"/>
                </a:solidFill>
              </a:rPr>
              <a:t>→ 9번의 실패 실험은 낭비가 아닌, '무엇이 문제인지'를 정량적으로 증명한 과학적 탐구 과정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09728"/>
            <a:ext cx="1645920" cy="274320"/>
          </a:xfrm>
          <a:prstGeom prst="rect">
            <a:avLst/>
          </a:prstGeom>
          <a:solidFill>
            <a:srgbClr val="2A5C8A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84048" y="1097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배운 것·활용 기법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148840" y="82296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프로젝트에서 배우고 활용한 기법 전체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2788920" cy="193852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804672"/>
            <a:ext cx="2788920" cy="329184"/>
          </a:xfrm>
          <a:prstGeom prst="rect">
            <a:avLst/>
          </a:prstGeom>
          <a:solidFill>
            <a:srgbClr val="2A5C8A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804672"/>
            <a:ext cx="2633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 데이터 분석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3776" y="1207008"/>
            <a:ext cx="2596896" cy="1499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• t-test·ANOVA 이분화 검증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• Pearson 상관·다중공선성 진단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• IQR 이상치 탐지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• 노드별 그룹 통계 분석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10128" y="804672"/>
            <a:ext cx="2788920" cy="193852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10128" y="804672"/>
            <a:ext cx="2788920" cy="32918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1" name="Text 9"/>
          <p:cNvSpPr/>
          <p:nvPr/>
        </p:nvSpPr>
        <p:spPr>
          <a:xfrm>
            <a:off x="3401568" y="804672"/>
            <a:ext cx="2633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 머신러닝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19856" y="1207008"/>
            <a:ext cx="2596896" cy="1499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• 23개 모델 체계적 비교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• RandomizedSearchCV 튜닝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• Stacking/Voting 앙상블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• sample_weight 기반 학습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• cross_val_predict OOF 기법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36208" y="804672"/>
            <a:ext cx="2788920" cy="193852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36208" y="804672"/>
            <a:ext cx="2788920" cy="329184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15" name="Text 13"/>
          <p:cNvSpPr/>
          <p:nvPr/>
        </p:nvSpPr>
        <p:spPr>
          <a:xfrm>
            <a:off x="6327648" y="804672"/>
            <a:ext cx="2633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 XAI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45936" y="1207008"/>
            <a:ext cx="2596896" cy="1499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• GB/RF/ET Built-in Importance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• Permutation Importance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• Pearson 기반 중요도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• 5-Method Voting 앙상블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84048" y="2889504"/>
            <a:ext cx="2788920" cy="193852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4048" y="2889504"/>
            <a:ext cx="2788920" cy="329184"/>
          </a:xfrm>
          <a:prstGeom prst="rect">
            <a:avLst/>
          </a:prstGeom>
          <a:solidFill>
            <a:srgbClr val="D4680A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" y="2889504"/>
            <a:ext cx="2633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⚙ 파이프라인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" y="3291840"/>
            <a:ext cx="2596896" cy="1499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• best_params JSON 저장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• 단계별 독립 실행 구조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• RANDOM_STATE=42 재현성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• 하드코딩 제거·동적 참조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310128" y="2889504"/>
            <a:ext cx="2788920" cy="193852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10128" y="2889504"/>
            <a:ext cx="2788920" cy="329184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23" name="Text 21"/>
          <p:cNvSpPr/>
          <p:nvPr/>
        </p:nvSpPr>
        <p:spPr>
          <a:xfrm>
            <a:off x="3401568" y="2889504"/>
            <a:ext cx="2633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 서비스 개발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19856" y="3291840"/>
            <a:ext cx="2596896" cy="1499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• Streamlit 멀티탭 구성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• st.session_state 상태 관리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• st.expander 계층 UI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• 슬라이더 실시간 예측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36208" y="2889504"/>
            <a:ext cx="2788920" cy="193852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36208" y="2889504"/>
            <a:ext cx="2788920" cy="32918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7" name="Text 25"/>
          <p:cNvSpPr/>
          <p:nvPr/>
        </p:nvSpPr>
        <p:spPr>
          <a:xfrm>
            <a:off x="6327648" y="2889504"/>
            <a:ext cx="2633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 실험 설계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45936" y="3291840"/>
            <a:ext cx="2596896" cy="1499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• 의사결정 흐름 문서화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• 가설→실험→판단 프레임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• 채택/기각 정량 근거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• 시행착오 원인 규명</a:t>
            </a:r>
            <a:endParaRPr lang="en-US" sz="10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09728"/>
            <a:ext cx="1645920" cy="274320"/>
          </a:xfrm>
          <a:prstGeom prst="rect">
            <a:avLst/>
          </a:prstGeom>
          <a:solidFill>
            <a:srgbClr val="D4680A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84048" y="1097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향후 로드맵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148840" y="82296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향후 개선 로드맵 — §8~§9 실험 결과 기반 우선순위</a:t>
            </a:r>
            <a:endParaRPr lang="en-US" sz="22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804672"/>
          <a:ext cx="8412480" cy="4041648"/>
        </p:xfrm>
        <a:graphic>
          <a:graphicData uri="http://schemas.openxmlformats.org/drawingml/2006/table">
            <a:tbl>
              <a:tblPr/>
              <a:tblGrid>
                <a:gridCol w="749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505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73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우선순위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개선 방향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선결 조건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기대 R²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근거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3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14/22/28nm 데이터 추가 수집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노드당 125 → 500개 이상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0.72+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9번 실험이 수렴한 근본 원인 해결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3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XGBoost/LightGBM 직접 비교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 install 환경 확보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0.73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HistGBM 대안 성능 차이 검증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3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D468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Med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A+C 결합 전략 정밀 탐색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IQR(×1.5) + Expert(α=0.5)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0.678~0.680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§9-3 채택 실험 시너지 탐색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3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D468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Med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Bayesian Optimization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 install optuna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0.68+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RandomizedSearch 대비 탐색 효율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3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DNN 기반 전이학습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데이터 500개+ 확보 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불확실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GBM warm_start 한계 극복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84048" y="489204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BA0B0"/>
                </a:solidFill>
              </a:rPr>
              <a:t>모든 우선순위는 §8~§9 실험의 채택/기각 판단을 정량적 근거로 결정되었습니다.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280160"/>
            <a:ext cx="5029200" cy="5029200"/>
          </a:xfrm>
          <a:prstGeom prst="ellipse">
            <a:avLst/>
          </a:prstGeom>
          <a:solidFill>
            <a:srgbClr val="1E3A5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3474720"/>
            <a:ext cx="3474720" cy="3474720"/>
          </a:xfrm>
          <a:prstGeom prst="ellipse">
            <a:avLst/>
          </a:prstGeom>
          <a:solidFill>
            <a:srgbClr val="1E3A5F">
              <a:alpha val="3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결론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4048" y="987552"/>
            <a:ext cx="4133088" cy="151790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Shape 4"/>
          <p:cNvSpPr/>
          <p:nvPr/>
        </p:nvSpPr>
        <p:spPr>
          <a:xfrm>
            <a:off x="384048" y="987552"/>
            <a:ext cx="4133088" cy="32918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987552"/>
            <a:ext cx="3950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01    Best Model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93776" y="1389888"/>
            <a:ext cx="3913632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GradientBoostingRegressor + FS-C(23개)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5-Fold CV R²=0.6755  RMSE=0.0997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81728" y="987552"/>
            <a:ext cx="4133088" cy="151790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Shape 8"/>
          <p:cNvSpPr/>
          <p:nvPr/>
        </p:nvSpPr>
        <p:spPr>
          <a:xfrm>
            <a:off x="4681728" y="987552"/>
            <a:ext cx="4133088" cy="32918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4773168" y="987552"/>
            <a:ext cx="3950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02    XAI #1 인자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91456" y="1389888"/>
            <a:ext cx="3913632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critical_dimension (0.8085)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→ is_advanced_node → vth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84048" y="2651760"/>
            <a:ext cx="4133088" cy="151790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4" name="Shape 12"/>
          <p:cNvSpPr/>
          <p:nvPr/>
        </p:nvSpPr>
        <p:spPr>
          <a:xfrm>
            <a:off x="384048" y="2651760"/>
            <a:ext cx="4133088" cy="32918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" y="2651760"/>
            <a:ext cx="3950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03    9회 실험의 가치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3776" y="3054096"/>
            <a:ext cx="3913632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8개 실패 실험이 '근본 원인 = 데이터 규모'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임을 정량으로 증명 — 과학적 탐구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81728" y="2651760"/>
            <a:ext cx="4133088" cy="151790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4681728" y="2651760"/>
            <a:ext cx="4133088" cy="32918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4773168" y="2651760"/>
            <a:ext cx="3950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04  ⚡  핵심 발견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91456" y="3054096"/>
            <a:ext cx="3913632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Diversity = 데이터 관점 차별화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이분화 구조 = 분리 불가한 핵심 신호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84048" y="4370832"/>
            <a:ext cx="8412480" cy="6583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437083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</a:rPr>
              <a:t>"데이터를 바꿀 수 없다면, 데이터를 바라보는 모델의 시선을 바꿔라"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</a:rPr>
              <a:t>— Expert 가중치 샘플링으로 실현한 앙상블 Diversity 전략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669280" cy="5669280"/>
          </a:xfrm>
          <a:prstGeom prst="ellipse">
            <a:avLst/>
          </a:prstGeom>
          <a:solidFill>
            <a:srgbClr val="1E3A5F">
              <a:alpha val="4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1E3A5F">
              <a:alpha val="3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960120"/>
            <a:ext cx="8138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감사합니다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502920" y="1920240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C8DCF5"/>
                </a:solidFill>
              </a:rPr>
              <a:t>Thank You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91840" y="2578608"/>
            <a:ext cx="256032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2788920"/>
            <a:ext cx="2304288" cy="1508760"/>
          </a:xfrm>
          <a:prstGeom prst="rect">
            <a:avLst/>
          </a:prstGeom>
          <a:solidFill>
            <a:srgbClr val="1E3A5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2834640"/>
            <a:ext cx="23042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005840" y="3364992"/>
            <a:ext cx="23042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8DCF5"/>
                </a:solidFill>
              </a:rPr>
              <a:t>데이터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3639312"/>
            <a:ext cx="230428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1,250 Wafer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5 Nodes · 18 Features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20440" y="2788920"/>
            <a:ext cx="2304288" cy="1508760"/>
          </a:xfrm>
          <a:prstGeom prst="rect">
            <a:avLst/>
          </a:prstGeom>
          <a:solidFill>
            <a:srgbClr val="1E3A5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20440" y="2834640"/>
            <a:ext cx="23042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520440" y="3364992"/>
            <a:ext cx="23042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8DCF5"/>
                </a:solidFill>
              </a:rPr>
              <a:t>Best Model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20440" y="3639312"/>
            <a:ext cx="230428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GBM Tuned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R²=0.6755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2788920"/>
            <a:ext cx="2304288" cy="1508760"/>
          </a:xfrm>
          <a:prstGeom prst="rect">
            <a:avLst/>
          </a:prstGeom>
          <a:solidFill>
            <a:srgbClr val="1E3A5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35040" y="2834640"/>
            <a:ext cx="23042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035040" y="3364992"/>
            <a:ext cx="23042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8DCF5"/>
                </a:solidFill>
              </a:rPr>
              <a:t>XAI #1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35040" y="3639312"/>
            <a:ext cx="230428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critical_dimension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Score=0.8085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448056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A0B0"/>
                </a:solidFill>
              </a:rPr>
              <a:t>반도체 수율 예측 &amp; XAI 유의인자 분석 프로젝트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4773168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5566"/>
                </a:solidFill>
              </a:rPr>
              <a:t>§1 EDA  ·  §2 Baseline(23)  ·  §3 Tuning  ·  §4 Ensemble  ·  §5-7 진단  ·  §8 의사결정  ·  §9-1~3 후속실험  ·  XAI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</TotalTime>
  <Words>3647</Words>
  <Application>Microsoft Office PowerPoint</Application>
  <PresentationFormat>화면 슬라이드 쇼(16:9)</PresentationFormat>
  <Paragraphs>733</Paragraphs>
  <Slides>36</Slides>
  <Notes>36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43" baseType="lpstr">
      <vt:lpstr>맑은 고딕</vt:lpstr>
      <vt:lpstr>Arial</vt:lpstr>
      <vt:lpstr>Calibri</vt:lpstr>
      <vt:lpstr>Consolas</vt:lpstr>
      <vt:lpstr>Inter</vt:lpstr>
      <vt:lpstr>Segoe UI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반도체 수율 예측 &amp; XAI 유의인자 분석</dc:title>
  <dc:subject>PptxGenJS Presentation</dc:subject>
  <dc:creator>지호</dc:creator>
  <cp:lastModifiedBy>User</cp:lastModifiedBy>
  <cp:revision>14</cp:revision>
  <dcterms:created xsi:type="dcterms:W3CDTF">2026-06-08T07:34:55Z</dcterms:created>
  <dcterms:modified xsi:type="dcterms:W3CDTF">2026-06-09T08:17:17Z</dcterms:modified>
</cp:coreProperties>
</file>